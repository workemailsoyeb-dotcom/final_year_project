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x="18288000" cy="10287000"/>
  <p:notesSz cx="6858000" cy="9144000"/>
  <p:embeddedFontLst>
    <p:embeddedFont>
      <p:font typeface="Open Sans Bold" charset="1" panose="00000000000000000000"/>
      <p:regular r:id="rId42"/>
    </p:embeddedFont>
    <p:embeddedFont>
      <p:font typeface="Inter Bold" charset="1" panose="020B0802030000000004"/>
      <p:regular r:id="rId43"/>
    </p:embeddedFont>
    <p:embeddedFont>
      <p:font typeface="Inter" charset="1" panose="020B0502030000000004"/>
      <p:regular r:id="rId44"/>
    </p:embeddedFont>
    <p:embeddedFont>
      <p:font typeface="Open Sans" charset="1" panose="00000000000000000000"/>
      <p:regular r:id="rId45"/>
    </p:embeddedFont>
    <p:embeddedFont>
      <p:font typeface="Inter Italics" charset="1" panose="020B0502030000000004"/>
      <p:regular r:id="rId46"/>
    </p:embeddedFont>
    <p:embeddedFont>
      <p:font typeface="Inter Medium" charset="1" panose="02000503000000020004"/>
      <p:regular r:id="rId4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fonts/font42.fntdata" Type="http://schemas.openxmlformats.org/officeDocument/2006/relationships/font"/><Relationship Id="rId43" Target="fonts/font43.fntdata" Type="http://schemas.openxmlformats.org/officeDocument/2006/relationships/font"/><Relationship Id="rId44" Target="fonts/font44.fntdata" Type="http://schemas.openxmlformats.org/officeDocument/2006/relationships/font"/><Relationship Id="rId45" Target="fonts/font45.fntdata" Type="http://schemas.openxmlformats.org/officeDocument/2006/relationships/font"/><Relationship Id="rId46" Target="fonts/font46.fntdata" Type="http://schemas.openxmlformats.org/officeDocument/2006/relationships/font"/><Relationship Id="rId47" Target="fonts/font47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https://be-projects-2026.onrender.com/tools/ECA_Tools/" TargetMode="External" Type="http://schemas.openxmlformats.org/officeDocument/2006/relationships/hyperlink"/><Relationship Id="rId4" Target="../media/image6.png" Type="http://schemas.openxmlformats.org/officeDocument/2006/relationships/image"/><Relationship Id="rId5" Target="../media/image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https://be-projects-2026.onrender.com/tools/ECA_Tools/" TargetMode="External" Type="http://schemas.openxmlformats.org/officeDocument/2006/relationships/hyperlink"/><Relationship Id="rId4" Target="../media/image8.png" Type="http://schemas.openxmlformats.org/officeDocument/2006/relationships/image"/><Relationship Id="rId5" Target="../media/image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https://be-projects-2026.onrender.com/tools/ECA_Tools/" TargetMode="External" Type="http://schemas.openxmlformats.org/officeDocument/2006/relationships/hyperlink"/><Relationship Id="rId4" Target="../media/image10.pn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https://be-projects-2026.onrender.com/tools/ECA_Tools/" TargetMode="External" Type="http://schemas.openxmlformats.org/officeDocument/2006/relationships/hyperlink"/><Relationship Id="rId4" Target="../media/image12.png" Type="http://schemas.openxmlformats.org/officeDocument/2006/relationships/image"/><Relationship Id="rId5" Target="../media/image13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https://be-projects-2026.onrender.com/tools/ECA_Tools/" TargetMode="External" Type="http://schemas.openxmlformats.org/officeDocument/2006/relationships/hyperlink"/><Relationship Id="rId4" Target="../media/image14.png" Type="http://schemas.openxmlformats.org/officeDocument/2006/relationships/image"/><Relationship Id="rId5" Target="../media/image15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https://be-projects-2026.onrender.com/tools/ECA_Tools/" TargetMode="External" Type="http://schemas.openxmlformats.org/officeDocument/2006/relationships/hyperlink"/><Relationship Id="rId4" Target="../media/image16.png" Type="http://schemas.openxmlformats.org/officeDocument/2006/relationships/image"/><Relationship Id="rId5" Target="../media/image17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https://be-projects-2026.onrender.com/tools/ECA_Tools/" TargetMode="External" Type="http://schemas.openxmlformats.org/officeDocument/2006/relationships/hyperlink"/><Relationship Id="rId4" Target="../media/image18.png" Type="http://schemas.openxmlformats.org/officeDocument/2006/relationships/image"/><Relationship Id="rId5" Target="../media/image19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Relationship Id="rId6" Target="../media/image23.png" Type="http://schemas.openxmlformats.org/officeDocument/2006/relationships/image"/><Relationship Id="rId7" Target="../media/image24.png" Type="http://schemas.openxmlformats.org/officeDocument/2006/relationships/image"/><Relationship Id="rId8" Target="../media/image25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6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6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7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8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https://be-projects-2026.onrender.com/tools/ECA_Tools/" TargetMode="External" Type="http://schemas.openxmlformats.org/officeDocument/2006/relationships/hyperlink"/><Relationship Id="rId4" Target="../media/image27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0.png" Type="http://schemas.openxmlformats.org/officeDocument/2006/relationships/image"/><Relationship Id="rId4" Target="../embeddings/oleObject1.bin" Type="http://schemas.openxmlformats.org/officeDocument/2006/relationships/oleObject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https://be-projects-2026.onrender.com" TargetMode="External" Type="http://schemas.openxmlformats.org/officeDocument/2006/relationships/hyperlink"/><Relationship Id="rId4" Target="https://github.com/AdityaChowdhury15/ECA_Tools/tree/main/2026" TargetMode="External" Type="http://schemas.openxmlformats.org/officeDocument/2006/relationships/hyperlink"/><Relationship Id="rId5" Target="https://github.com/AdityaChowdhury15/ECA_Tools/tree/main/2026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22" r="0" b="-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82614" y="6125249"/>
            <a:ext cx="5041345" cy="1376848"/>
            <a:chOff x="0" y="0"/>
            <a:chExt cx="1327762" cy="36262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27762" cy="362627"/>
            </a:xfrm>
            <a:custGeom>
              <a:avLst/>
              <a:gdLst/>
              <a:ahLst/>
              <a:cxnLst/>
              <a:rect r="r" b="b" t="t" l="l"/>
              <a:pathLst>
                <a:path h="362627" w="1327762">
                  <a:moveTo>
                    <a:pt x="0" y="0"/>
                  </a:moveTo>
                  <a:lnTo>
                    <a:pt x="1327762" y="0"/>
                  </a:lnTo>
                  <a:lnTo>
                    <a:pt x="1327762" y="362627"/>
                  </a:lnTo>
                  <a:lnTo>
                    <a:pt x="0" y="362627"/>
                  </a:lnTo>
                  <a:close/>
                </a:path>
              </a:pathLst>
            </a:custGeom>
            <a:solidFill>
              <a:srgbClr val="ECE5DB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327762" cy="4102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724657" y="2128941"/>
            <a:ext cx="14838685" cy="1878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b="true" sz="72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ELLIP</a:t>
            </a:r>
            <a:r>
              <a:rPr lang="en-US" b="true" sz="72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TIC CURVE CRYPTOGRAPHY</a:t>
            </a:r>
          </a:p>
          <a:p>
            <a:pPr algn="ctr">
              <a:lnSpc>
                <a:spcPts val="7200"/>
              </a:lnSpc>
            </a:pPr>
            <a:r>
              <a:rPr lang="en-US" b="true" sz="72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&amp; PROJECT HOSTING GATEWAY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0" y="6156239"/>
            <a:ext cx="8522150" cy="1261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Project Guide:</a:t>
            </a:r>
          </a:p>
          <a:p>
            <a:pPr algn="ctr">
              <a:lnSpc>
                <a:spcPts val="5040"/>
              </a:lnSpc>
            </a:pPr>
            <a:r>
              <a:rPr lang="en-US" sz="36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Mr. Utpal Kumar Ray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886018" y="5403254"/>
            <a:ext cx="8522150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Group - 26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8886018" y="6392559"/>
            <a:ext cx="8475730" cy="2586139"/>
            <a:chOff x="0" y="0"/>
            <a:chExt cx="2232291" cy="68112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32291" cy="681123"/>
            </a:xfrm>
            <a:custGeom>
              <a:avLst/>
              <a:gdLst/>
              <a:ahLst/>
              <a:cxnLst/>
              <a:rect r="r" b="b" t="t" l="l"/>
              <a:pathLst>
                <a:path h="681123" w="2232291">
                  <a:moveTo>
                    <a:pt x="0" y="0"/>
                  </a:moveTo>
                  <a:lnTo>
                    <a:pt x="2232291" y="0"/>
                  </a:lnTo>
                  <a:lnTo>
                    <a:pt x="2232291" y="681123"/>
                  </a:lnTo>
                  <a:lnTo>
                    <a:pt x="0" y="681123"/>
                  </a:lnTo>
                  <a:close/>
                </a:path>
              </a:pathLst>
            </a:custGeom>
            <a:solidFill>
              <a:srgbClr val="ECE5DB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2232291" cy="728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8386185" y="6378798"/>
            <a:ext cx="9521815" cy="2537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Group Members:</a:t>
            </a:r>
          </a:p>
          <a:p>
            <a:pPr algn="ctr">
              <a:lnSpc>
                <a:spcPts val="5040"/>
              </a:lnSpc>
            </a:pPr>
            <a:r>
              <a:rPr lang="en-US" sz="36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Lekharshav Sengupta</a:t>
            </a:r>
            <a:r>
              <a:rPr lang="en-US" sz="36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- 00221100</a:t>
            </a:r>
            <a:r>
              <a:rPr lang="en-US" sz="3600" u="sng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1121</a:t>
            </a:r>
          </a:p>
          <a:p>
            <a:pPr algn="ctr">
              <a:lnSpc>
                <a:spcPts val="5040"/>
              </a:lnSpc>
            </a:pPr>
            <a:r>
              <a:rPr lang="en-US" sz="36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Rounak Saha - 00221100</a:t>
            </a:r>
            <a:r>
              <a:rPr lang="en-US" sz="3600" u="sng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1132</a:t>
            </a:r>
          </a:p>
          <a:p>
            <a:pPr algn="ctr">
              <a:lnSpc>
                <a:spcPts val="5040"/>
              </a:lnSpc>
            </a:pPr>
            <a:r>
              <a:rPr lang="en-US" sz="36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Aditya Chowdhury - 00221100</a:t>
            </a:r>
            <a:r>
              <a:rPr lang="en-US" sz="3600" u="sng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1133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22" r="0" b="-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586446" y="2274382"/>
            <a:ext cx="9115109" cy="1060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b="true" sz="80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CONTENTS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4680831"/>
            <a:ext cx="8212043" cy="3746061"/>
            <a:chOff x="0" y="0"/>
            <a:chExt cx="2162843" cy="98661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62843" cy="986617"/>
            </a:xfrm>
            <a:custGeom>
              <a:avLst/>
              <a:gdLst/>
              <a:ahLst/>
              <a:cxnLst/>
              <a:rect r="r" b="b" t="t" l="l"/>
              <a:pathLst>
                <a:path h="986617" w="2162843">
                  <a:moveTo>
                    <a:pt x="0" y="0"/>
                  </a:moveTo>
                  <a:lnTo>
                    <a:pt x="2162843" y="0"/>
                  </a:lnTo>
                  <a:lnTo>
                    <a:pt x="2162843" y="986617"/>
                  </a:lnTo>
                  <a:lnTo>
                    <a:pt x="0" y="986617"/>
                  </a:lnTo>
                  <a:close/>
                </a:path>
              </a:pathLst>
            </a:custGeom>
            <a:solidFill>
              <a:srgbClr val="ECE5DB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2162843" cy="10342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28700" y="4713030"/>
            <a:ext cx="8395249" cy="3574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7525" indent="-273763" lvl="1">
              <a:lnSpc>
                <a:spcPts val="3550"/>
              </a:lnSpc>
              <a:buAutoNum type="arabicPeriod" startAt="1"/>
            </a:pPr>
            <a:r>
              <a:rPr lang="en-US" sz="2536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Elliptic Curve</a:t>
            </a:r>
          </a:p>
          <a:p>
            <a:pPr algn="l" marL="547525" indent="-273763" lvl="1">
              <a:lnSpc>
                <a:spcPts val="3550"/>
              </a:lnSpc>
              <a:buAutoNum type="arabicPeriod" startAt="1"/>
            </a:pPr>
            <a:r>
              <a:rPr lang="en-US" sz="2536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Elliptic Curve Group Over Finite Prime Field</a:t>
            </a:r>
          </a:p>
          <a:p>
            <a:pPr algn="l" marL="547525" indent="-273763" lvl="1">
              <a:lnSpc>
                <a:spcPts val="3550"/>
              </a:lnSpc>
              <a:buAutoNum type="arabicPeriod" startAt="1"/>
            </a:pPr>
            <a:r>
              <a:rPr lang="en-US" sz="2536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Elliptic Curve Discrete Logarithm Problem (</a:t>
            </a:r>
            <a:r>
              <a:rPr lang="en-US" b="true" sz="2536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EDLP</a:t>
            </a:r>
            <a:r>
              <a:rPr lang="en-US" sz="2536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</a:p>
          <a:p>
            <a:pPr algn="l" marL="547525" indent="-273763" lvl="1">
              <a:lnSpc>
                <a:spcPts val="3550"/>
              </a:lnSpc>
              <a:buAutoNum type="arabicPeriod" startAt="1"/>
            </a:pPr>
            <a:r>
              <a:rPr lang="en-US" sz="2536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Generator Point</a:t>
            </a:r>
          </a:p>
          <a:p>
            <a:pPr algn="l" marL="547525" indent="-273763" lvl="1">
              <a:lnSpc>
                <a:spcPts val="3550"/>
              </a:lnSpc>
              <a:buAutoNum type="arabicPeriod" startAt="1"/>
            </a:pPr>
            <a:r>
              <a:rPr lang="en-US" sz="2536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Sagemath</a:t>
            </a:r>
          </a:p>
          <a:p>
            <a:pPr algn="l" marL="547525" indent="-273763" lvl="1">
              <a:lnSpc>
                <a:spcPts val="3550"/>
              </a:lnSpc>
              <a:buAutoNum type="arabicPeriod" startAt="1"/>
            </a:pPr>
            <a:r>
              <a:rPr lang="en-US" sz="2536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Algorithms </a:t>
            </a:r>
          </a:p>
          <a:p>
            <a:pPr algn="l" marL="547525" indent="-273763" lvl="1">
              <a:lnSpc>
                <a:spcPts val="3550"/>
              </a:lnSpc>
              <a:buAutoNum type="arabicPeriod" startAt="1"/>
            </a:pPr>
            <a:r>
              <a:rPr lang="en-US" sz="2536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Web Architecture</a:t>
            </a:r>
          </a:p>
          <a:p>
            <a:pPr algn="l" marL="547525" indent="-273763" lvl="1">
              <a:lnSpc>
                <a:spcPts val="3550"/>
              </a:lnSpc>
              <a:buAutoNum type="arabicPeriod" startAt="1"/>
            </a:pPr>
            <a:r>
              <a:rPr lang="en-US" sz="2536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ECA Tools workflow 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423949" y="4680831"/>
            <a:ext cx="8243652" cy="3300182"/>
            <a:chOff x="0" y="0"/>
            <a:chExt cx="2171168" cy="86918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71168" cy="869184"/>
            </a:xfrm>
            <a:custGeom>
              <a:avLst/>
              <a:gdLst/>
              <a:ahLst/>
              <a:cxnLst/>
              <a:rect r="r" b="b" t="t" l="l"/>
              <a:pathLst>
                <a:path h="869184" w="2171168">
                  <a:moveTo>
                    <a:pt x="0" y="0"/>
                  </a:moveTo>
                  <a:lnTo>
                    <a:pt x="2171168" y="0"/>
                  </a:lnTo>
                  <a:lnTo>
                    <a:pt x="2171168" y="869184"/>
                  </a:lnTo>
                  <a:lnTo>
                    <a:pt x="0" y="869184"/>
                  </a:lnTo>
                  <a:close/>
                </a:path>
              </a:pathLst>
            </a:custGeom>
            <a:solidFill>
              <a:srgbClr val="ECE5D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171168" cy="9168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9632921" y="4713030"/>
            <a:ext cx="8266258" cy="3126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0"/>
              </a:lnSpc>
            </a:pPr>
            <a:r>
              <a:rPr lang="en-US" sz="2536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9. Curve Point Visualization</a:t>
            </a:r>
          </a:p>
          <a:p>
            <a:pPr algn="l">
              <a:lnSpc>
                <a:spcPts val="3550"/>
              </a:lnSpc>
            </a:pPr>
            <a:r>
              <a:rPr lang="en-US" sz="2536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10. Project Hosting Gateway</a:t>
            </a:r>
          </a:p>
          <a:p>
            <a:pPr algn="l">
              <a:lnSpc>
                <a:spcPts val="3550"/>
              </a:lnSpc>
            </a:pPr>
            <a:r>
              <a:rPr lang="en-US" sz="2536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11. Deployment on Render</a:t>
            </a:r>
          </a:p>
          <a:p>
            <a:pPr algn="l">
              <a:lnSpc>
                <a:spcPts val="3550"/>
              </a:lnSpc>
            </a:pPr>
            <a:r>
              <a:rPr lang="en-US" sz="2536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12. Functional Testing </a:t>
            </a:r>
          </a:p>
          <a:p>
            <a:pPr algn="l">
              <a:lnSpc>
                <a:spcPts val="3550"/>
              </a:lnSpc>
            </a:pPr>
            <a:r>
              <a:rPr lang="en-US" sz="2536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13</a:t>
            </a:r>
            <a:r>
              <a:rPr lang="en-US" sz="2536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 Challenges &amp; Issues Faced</a:t>
            </a:r>
          </a:p>
          <a:p>
            <a:pPr algn="l">
              <a:lnSpc>
                <a:spcPts val="3550"/>
              </a:lnSpc>
            </a:pPr>
            <a:r>
              <a:rPr lang="en-US" sz="2536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14. Future Goals</a:t>
            </a:r>
          </a:p>
          <a:p>
            <a:pPr algn="l">
              <a:lnSpc>
                <a:spcPts val="3550"/>
              </a:lnSpc>
            </a:pPr>
            <a:r>
              <a:rPr lang="en-US" sz="2536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15. REFERENCES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22" r="0" b="-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691480" y="3847825"/>
            <a:ext cx="4961364" cy="490771"/>
            <a:chOff x="0" y="0"/>
            <a:chExt cx="1306697" cy="12925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06697" cy="129256"/>
            </a:xfrm>
            <a:custGeom>
              <a:avLst/>
              <a:gdLst/>
              <a:ahLst/>
              <a:cxnLst/>
              <a:rect r="r" b="b" t="t" l="l"/>
              <a:pathLst>
                <a:path h="129256" w="1306697">
                  <a:moveTo>
                    <a:pt x="0" y="0"/>
                  </a:moveTo>
                  <a:lnTo>
                    <a:pt x="1306697" y="0"/>
                  </a:lnTo>
                  <a:lnTo>
                    <a:pt x="1306697" y="129256"/>
                  </a:lnTo>
                  <a:lnTo>
                    <a:pt x="0" y="129256"/>
                  </a:lnTo>
                  <a:close/>
                </a:path>
              </a:pathLst>
            </a:custGeom>
            <a:solidFill>
              <a:srgbClr val="ECE5DB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306697" cy="1768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2330104" y="4093210"/>
            <a:ext cx="5608610" cy="4775132"/>
          </a:xfrm>
          <a:custGeom>
            <a:avLst/>
            <a:gdLst/>
            <a:ahLst/>
            <a:cxnLst/>
            <a:rect r="r" b="b" t="t" l="l"/>
            <a:pathLst>
              <a:path h="4775132" w="5608610">
                <a:moveTo>
                  <a:pt x="0" y="0"/>
                </a:moveTo>
                <a:lnTo>
                  <a:pt x="5608610" y="0"/>
                </a:lnTo>
                <a:lnTo>
                  <a:pt x="5608610" y="4775132"/>
                </a:lnTo>
                <a:lnTo>
                  <a:pt x="0" y="47751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38100" cap="rnd">
            <a:solidFill>
              <a:srgbClr val="000000"/>
            </a:solidFill>
            <a:prstDash val="solid"/>
            <a:round/>
          </a:ln>
        </p:spPr>
      </p:sp>
      <p:sp>
        <p:nvSpPr>
          <p:cNvPr name="TextBox 7" id="7"/>
          <p:cNvSpPr txBox="true"/>
          <p:nvPr/>
        </p:nvSpPr>
        <p:spPr>
          <a:xfrm rot="0">
            <a:off x="5546627" y="1181100"/>
            <a:ext cx="7960634" cy="1060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00"/>
              </a:lnSpc>
            </a:pPr>
            <a:r>
              <a:rPr lang="en-US" sz="80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ELLIPTIC</a:t>
            </a:r>
            <a:r>
              <a:rPr lang="en-US" sz="80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CURVE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969668" y="6801055"/>
            <a:ext cx="9683176" cy="2082795"/>
            <a:chOff x="0" y="0"/>
            <a:chExt cx="2550301" cy="54855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50302" cy="548555"/>
            </a:xfrm>
            <a:custGeom>
              <a:avLst/>
              <a:gdLst/>
              <a:ahLst/>
              <a:cxnLst/>
              <a:rect r="r" b="b" t="t" l="l"/>
              <a:pathLst>
                <a:path h="548555" w="2550302">
                  <a:moveTo>
                    <a:pt x="0" y="0"/>
                  </a:moveTo>
                  <a:lnTo>
                    <a:pt x="2550302" y="0"/>
                  </a:lnTo>
                  <a:lnTo>
                    <a:pt x="2550302" y="548555"/>
                  </a:lnTo>
                  <a:lnTo>
                    <a:pt x="0" y="548555"/>
                  </a:lnTo>
                  <a:close/>
                </a:path>
              </a:pathLst>
            </a:custGeom>
            <a:solidFill>
              <a:srgbClr val="ECE5D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550301" cy="5961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703120" y="2823845"/>
            <a:ext cx="14508928" cy="6434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Ell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iptic Curve Cryptography (ECC) is a </a:t>
            </a:r>
            <a:r>
              <a:rPr lang="en-US" b="true" sz="27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public-key cryptography technique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that uses elliptic curve theory to </a:t>
            </a:r>
            <a:r>
              <a:rPr lang="en-US" b="true" sz="27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encrypt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b="true" sz="27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authenticate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, and </a:t>
            </a:r>
            <a:r>
              <a:rPr lang="en-US" b="true" sz="27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digitally sign data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    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y² = x³ + ax + b (mod p)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ECC operates on points on the curve, </a:t>
            </a:r>
            <a:r>
              <a:rPr lang="en-US" b="true" sz="27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not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integers.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Symmetric with respect to the </a:t>
            </a:r>
            <a:r>
              <a:rPr lang="en-US" b="true" sz="27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x-axis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Forms a </a:t>
            </a:r>
            <a:r>
              <a:rPr lang="en-US" b="true" sz="27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finite group structure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used in cryptographic 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    algorithms.</a:t>
            </a:r>
          </a:p>
          <a:p>
            <a:pPr algn="l">
              <a:lnSpc>
                <a:spcPts val="3919"/>
              </a:lnSpc>
            </a:pP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  </a:t>
            </a:r>
            <a:r>
              <a:rPr lang="en-US" sz="279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Use in Cryptography: 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ECC uses these points for </a:t>
            </a:r>
            <a:r>
              <a:rPr lang="en-US" b="true" sz="27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secure key generation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 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Cryptography uses elliptic curves in a </a:t>
            </a:r>
            <a:r>
              <a:rPr lang="en-US" b="true" sz="27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simplified form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    (Weierstrass form)</a:t>
            </a:r>
          </a:p>
          <a:p>
            <a:pPr algn="l">
              <a:lnSpc>
                <a:spcPts val="3919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22" r="0" b="-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802482" y="7990056"/>
            <a:ext cx="4961364" cy="490771"/>
            <a:chOff x="0" y="0"/>
            <a:chExt cx="1306697" cy="12925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06697" cy="129256"/>
            </a:xfrm>
            <a:custGeom>
              <a:avLst/>
              <a:gdLst/>
              <a:ahLst/>
              <a:cxnLst/>
              <a:rect r="r" b="b" t="t" l="l"/>
              <a:pathLst>
                <a:path h="129256" w="1306697">
                  <a:moveTo>
                    <a:pt x="0" y="0"/>
                  </a:moveTo>
                  <a:lnTo>
                    <a:pt x="1306697" y="0"/>
                  </a:lnTo>
                  <a:lnTo>
                    <a:pt x="1306697" y="129256"/>
                  </a:lnTo>
                  <a:lnTo>
                    <a:pt x="0" y="129256"/>
                  </a:lnTo>
                  <a:close/>
                </a:path>
              </a:pathLst>
            </a:custGeom>
            <a:solidFill>
              <a:srgbClr val="ECE5DB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306697" cy="1768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38225" y="1162050"/>
            <a:ext cx="15004538" cy="1878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Elliptic</a:t>
            </a:r>
            <a:r>
              <a:rPr lang="en-US" sz="7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Curve Group Over Finite Prime Field </a:t>
            </a:r>
            <a:r>
              <a:rPr lang="en-US" sz="7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(Fm)</a:t>
            </a:r>
            <a:r>
              <a:rPr lang="en-US" sz="7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8700" y="8480827"/>
            <a:ext cx="9927517" cy="1422633"/>
            <a:chOff x="0" y="0"/>
            <a:chExt cx="2614655" cy="37468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614655" cy="374685"/>
            </a:xfrm>
            <a:custGeom>
              <a:avLst/>
              <a:gdLst/>
              <a:ahLst/>
              <a:cxnLst/>
              <a:rect r="r" b="b" t="t" l="l"/>
              <a:pathLst>
                <a:path h="374685" w="2614655">
                  <a:moveTo>
                    <a:pt x="0" y="0"/>
                  </a:moveTo>
                  <a:lnTo>
                    <a:pt x="2614655" y="0"/>
                  </a:lnTo>
                  <a:lnTo>
                    <a:pt x="2614655" y="374685"/>
                  </a:lnTo>
                  <a:lnTo>
                    <a:pt x="0" y="374685"/>
                  </a:lnTo>
                  <a:close/>
                </a:path>
              </a:pathLst>
            </a:custGeom>
            <a:solidFill>
              <a:srgbClr val="ECE5DB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2614655" cy="422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028700" y="2973705"/>
            <a:ext cx="14508928" cy="6929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The </a:t>
            </a:r>
            <a:r>
              <a:rPr lang="en-US" sz="279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ell</a:t>
            </a:r>
            <a:r>
              <a:rPr lang="en-US" sz="279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iptic curve cryptography (ECC)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uses </a:t>
            </a:r>
            <a:r>
              <a:rPr lang="en-US" sz="279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elliptic curves over the finite field 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,most commonly </a:t>
            </a:r>
            <a:r>
              <a:rPr lang="en-US" sz="279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𝔽p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(w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he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 </a:t>
            </a:r>
            <a:r>
              <a:rPr lang="en-US" sz="279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is pr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and </a:t>
            </a:r>
            <a:r>
              <a:rPr lang="en-US" sz="279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&gt; 3) and the binary extension field </a:t>
            </a:r>
            <a:r>
              <a:rPr lang="en-US" sz="279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𝔽2ᵐ 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(where 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he fie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ds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si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ze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79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 = 2m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). 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 f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inite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field is a finite set of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elements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with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defined arithmetic operations. In 𝔽p the elements are integers modulo p, while in </a:t>
            </a:r>
            <a:r>
              <a:rPr lang="en-US" b="true" sz="27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𝔽2ᵐ 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they are binary p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olynomials.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The curv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points have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coordinates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from the field, resulting in a finite number of points.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All algebr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ai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 operat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 w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it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hin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t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field, such as point addition and scalar mult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ip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lica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n, produce another point that also lies wi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the same field.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The elliptic curve equation over the f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te 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fie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 </a:t>
            </a:r>
            <a:r>
              <a:rPr lang="en-US" b="true" sz="27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𝔽p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takes the following modular form:</a:t>
            </a:r>
          </a:p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y² = x³ + ax + b (mod p)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An </a:t>
            </a:r>
            <a:r>
              <a:rPr lang="en-US" sz="279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elliptic curve over the finite field 𝔽p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consists of: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• A set of integer coordinates </a:t>
            </a:r>
            <a:r>
              <a:rPr lang="en-US" sz="279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{x, y}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, such that </a:t>
            </a:r>
            <a:r>
              <a:rPr lang="en-US" sz="279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0 ≤ x, y &lt; p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• Staying on the elliptic curve: y² = x³ + ax + b (mod p)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22" r="0" b="-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094453" y="5143500"/>
            <a:ext cx="1443175" cy="402126"/>
            <a:chOff x="0" y="0"/>
            <a:chExt cx="380095" cy="1059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80096" cy="105910"/>
            </a:xfrm>
            <a:custGeom>
              <a:avLst/>
              <a:gdLst/>
              <a:ahLst/>
              <a:cxnLst/>
              <a:rect r="r" b="b" t="t" l="l"/>
              <a:pathLst>
                <a:path h="105910" w="380096">
                  <a:moveTo>
                    <a:pt x="0" y="0"/>
                  </a:moveTo>
                  <a:lnTo>
                    <a:pt x="380096" y="0"/>
                  </a:lnTo>
                  <a:lnTo>
                    <a:pt x="380096" y="105910"/>
                  </a:lnTo>
                  <a:lnTo>
                    <a:pt x="0" y="105910"/>
                  </a:lnTo>
                  <a:close/>
                </a:path>
              </a:pathLst>
            </a:custGeom>
            <a:solidFill>
              <a:srgbClr val="ECE5DB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380095" cy="1535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5661440"/>
            <a:ext cx="10385932" cy="2188864"/>
            <a:chOff x="0" y="0"/>
            <a:chExt cx="2735390" cy="57649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35389" cy="576491"/>
            </a:xfrm>
            <a:custGeom>
              <a:avLst/>
              <a:gdLst/>
              <a:ahLst/>
              <a:cxnLst/>
              <a:rect r="r" b="b" t="t" l="l"/>
              <a:pathLst>
                <a:path h="576491" w="2735389">
                  <a:moveTo>
                    <a:pt x="0" y="0"/>
                  </a:moveTo>
                  <a:lnTo>
                    <a:pt x="2735389" y="0"/>
                  </a:lnTo>
                  <a:lnTo>
                    <a:pt x="2735389" y="576491"/>
                  </a:lnTo>
                  <a:lnTo>
                    <a:pt x="0" y="576491"/>
                  </a:lnTo>
                  <a:close/>
                </a:path>
              </a:pathLst>
            </a:custGeom>
            <a:solidFill>
              <a:srgbClr val="ECE5DB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735390" cy="6241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1743255" y="4540552"/>
            <a:ext cx="6047296" cy="4717748"/>
          </a:xfrm>
          <a:custGeom>
            <a:avLst/>
            <a:gdLst/>
            <a:ahLst/>
            <a:cxnLst/>
            <a:rect r="r" b="b" t="t" l="l"/>
            <a:pathLst>
              <a:path h="4717748" w="6047296">
                <a:moveTo>
                  <a:pt x="0" y="0"/>
                </a:moveTo>
                <a:lnTo>
                  <a:pt x="6047295" y="0"/>
                </a:lnTo>
                <a:lnTo>
                  <a:pt x="6047295" y="4717748"/>
                </a:lnTo>
                <a:lnTo>
                  <a:pt x="0" y="47177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38100" cap="rnd">
            <a:solidFill>
              <a:srgbClr val="000000"/>
            </a:solidFill>
            <a:prstDash val="solid"/>
            <a:round/>
          </a:ln>
        </p:spPr>
      </p:sp>
      <p:sp>
        <p:nvSpPr>
          <p:cNvPr name="TextBox 10" id="10"/>
          <p:cNvSpPr txBox="true"/>
          <p:nvPr/>
        </p:nvSpPr>
        <p:spPr>
          <a:xfrm rot="0">
            <a:off x="1028700" y="1162050"/>
            <a:ext cx="15004538" cy="96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GENERAT</a:t>
            </a:r>
            <a:r>
              <a:rPr lang="en-US" sz="7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OR POINT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2204057"/>
            <a:ext cx="14508928" cy="197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Fo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 th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 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elliptic curves over finite field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s,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 ECC cry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pto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sy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st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 de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fine a 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al predef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ine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(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cons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tant) EC point called </a:t>
            </a:r>
            <a:r>
              <a:rPr lang="en-US" b="true" sz="27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generator point G (base point)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, which can </a:t>
            </a:r>
            <a:r>
              <a:rPr lang="en-US" b="true" sz="27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generate any other point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over the elliptic curve by</a:t>
            </a:r>
            <a:r>
              <a:rPr lang="en-US" b="true" sz="27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multiplying G b</a:t>
            </a:r>
            <a:r>
              <a:rPr lang="en-US" b="true" sz="27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y</a:t>
            </a:r>
            <a:r>
              <a:rPr lang="en-US" b="true" sz="27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some integer in the range [0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...</a:t>
            </a:r>
            <a:r>
              <a:rPr lang="en-US" b="true" sz="27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r]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 The number r is called "</a:t>
            </a:r>
            <a:r>
              <a:rPr lang="en-US" b="true" sz="27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order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“.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5696617"/>
            <a:ext cx="10171606" cy="197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Order of G (x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,y)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=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Curv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Order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(a, b, p) 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Ev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er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y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point on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he cu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v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 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an 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 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expressed as a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multipl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 of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G 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oint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 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Cu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v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={O,G,2G,…,(n−1)G}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22" r="0" b="-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23462" y="7699679"/>
            <a:ext cx="1849456" cy="410151"/>
            <a:chOff x="0" y="0"/>
            <a:chExt cx="487100" cy="1080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7100" cy="108023"/>
            </a:xfrm>
            <a:custGeom>
              <a:avLst/>
              <a:gdLst/>
              <a:ahLst/>
              <a:cxnLst/>
              <a:rect r="r" b="b" t="t" l="l"/>
              <a:pathLst>
                <a:path h="108023" w="487100">
                  <a:moveTo>
                    <a:pt x="0" y="0"/>
                  </a:moveTo>
                  <a:lnTo>
                    <a:pt x="487100" y="0"/>
                  </a:lnTo>
                  <a:lnTo>
                    <a:pt x="487100" y="108023"/>
                  </a:lnTo>
                  <a:lnTo>
                    <a:pt x="0" y="108023"/>
                  </a:lnTo>
                  <a:close/>
                </a:path>
              </a:pathLst>
            </a:custGeom>
            <a:solidFill>
              <a:srgbClr val="ECE5DB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87100" cy="1556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67461" y="5481320"/>
            <a:ext cx="11507657" cy="1970845"/>
            <a:chOff x="0" y="0"/>
            <a:chExt cx="3030823" cy="51907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30823" cy="519070"/>
            </a:xfrm>
            <a:custGeom>
              <a:avLst/>
              <a:gdLst/>
              <a:ahLst/>
              <a:cxnLst/>
              <a:rect r="r" b="b" t="t" l="l"/>
              <a:pathLst>
                <a:path h="519070" w="3030823">
                  <a:moveTo>
                    <a:pt x="0" y="0"/>
                  </a:moveTo>
                  <a:lnTo>
                    <a:pt x="3030823" y="0"/>
                  </a:lnTo>
                  <a:lnTo>
                    <a:pt x="3030823" y="519070"/>
                  </a:lnTo>
                  <a:lnTo>
                    <a:pt x="0" y="519070"/>
                  </a:lnTo>
                  <a:close/>
                </a:path>
              </a:pathLst>
            </a:custGeom>
            <a:solidFill>
              <a:srgbClr val="ECE5DB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3030823" cy="5666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2375118" y="4000106"/>
            <a:ext cx="5759818" cy="4190344"/>
          </a:xfrm>
          <a:custGeom>
            <a:avLst/>
            <a:gdLst/>
            <a:ahLst/>
            <a:cxnLst/>
            <a:rect r="r" b="b" t="t" l="l"/>
            <a:pathLst>
              <a:path h="4190344" w="5759818">
                <a:moveTo>
                  <a:pt x="0" y="0"/>
                </a:moveTo>
                <a:lnTo>
                  <a:pt x="5759818" y="0"/>
                </a:lnTo>
                <a:lnTo>
                  <a:pt x="5759818" y="4190344"/>
                </a:lnTo>
                <a:lnTo>
                  <a:pt x="0" y="41903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38100" cap="rnd">
            <a:solidFill>
              <a:srgbClr val="000000"/>
            </a:solidFill>
            <a:prstDash val="solid"/>
            <a:round/>
          </a:ln>
        </p:spPr>
      </p:sp>
      <p:sp>
        <p:nvSpPr>
          <p:cNvPr name="TextBox 10" id="10"/>
          <p:cNvSpPr txBox="true"/>
          <p:nvPr/>
        </p:nvSpPr>
        <p:spPr>
          <a:xfrm rot="0">
            <a:off x="1028700" y="1162050"/>
            <a:ext cx="15004538" cy="1878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Elliptic Curve Discrete Logarithm Problem (EDLP)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67461" y="2973705"/>
            <a:ext cx="11316401" cy="4948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The Problem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Easy Direction: Given k and P, it is easy to calculate Q (Scalar Multiplication)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Hard Direction: Given Q and P, it is </a:t>
            </a:r>
            <a:r>
              <a:rPr lang="en-US" b="true" sz="27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computationally infeasible to determine k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Why It Matters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This "one-way" function is the foundation of ECC security.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Because ECDLP is harder than factoring integers (RSA), we can use much smaller keys for the same security level.</a:t>
            </a:r>
          </a:p>
          <a:p>
            <a:pPr algn="l">
              <a:lnSpc>
                <a:spcPts val="3919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867461" y="7633004"/>
            <a:ext cx="5495683" cy="2472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i="true">
                <a:solidFill>
                  <a:srgbClr val="000000"/>
                </a:solidFill>
                <a:latin typeface="Inter Italics"/>
                <a:ea typeface="Inter Italics"/>
                <a:cs typeface="Inter Italics"/>
                <a:sym typeface="Inter Italics"/>
              </a:rPr>
              <a:t>Q = k x</a:t>
            </a:r>
            <a:r>
              <a:rPr lang="en-US" sz="2799" i="true">
                <a:solidFill>
                  <a:srgbClr val="000000"/>
                </a:solidFill>
                <a:latin typeface="Inter Italics"/>
                <a:ea typeface="Inter Italics"/>
                <a:cs typeface="Inter Italics"/>
                <a:sym typeface="Inter Italics"/>
              </a:rPr>
              <a:t> P</a:t>
            </a:r>
          </a:p>
          <a:p>
            <a:pPr algn="l">
              <a:lnSpc>
                <a:spcPts val="3919"/>
              </a:lnSpc>
            </a:pPr>
            <a:r>
              <a:rPr lang="en-US" sz="2799" i="true">
                <a:solidFill>
                  <a:srgbClr val="000000"/>
                </a:solidFill>
                <a:latin typeface="Inter Italics"/>
                <a:ea typeface="Inter Italics"/>
                <a:cs typeface="Inter Italics"/>
                <a:sym typeface="Inter Italics"/>
              </a:rPr>
              <a:t>P: Generator Point (Known)</a:t>
            </a:r>
          </a:p>
          <a:p>
            <a:pPr algn="l">
              <a:lnSpc>
                <a:spcPts val="3919"/>
              </a:lnSpc>
            </a:pPr>
            <a:r>
              <a:rPr lang="en-US" sz="2799" i="true">
                <a:solidFill>
                  <a:srgbClr val="000000"/>
                </a:solidFill>
                <a:latin typeface="Inter Italics"/>
                <a:ea typeface="Inter Italics"/>
                <a:cs typeface="Inter Italics"/>
                <a:sym typeface="Inter Italics"/>
              </a:rPr>
              <a:t>k</a:t>
            </a:r>
            <a:r>
              <a:rPr lang="en-US" sz="2799" i="true">
                <a:solidFill>
                  <a:srgbClr val="000000"/>
                </a:solidFill>
                <a:latin typeface="Inter Italics"/>
                <a:ea typeface="Inter Italics"/>
                <a:cs typeface="Inter Italics"/>
                <a:sym typeface="Inter Italics"/>
              </a:rPr>
              <a:t>: Private Ke</a:t>
            </a:r>
            <a:r>
              <a:rPr lang="en-US" sz="2799" i="true">
                <a:solidFill>
                  <a:srgbClr val="000000"/>
                </a:solidFill>
                <a:latin typeface="Inter Italics"/>
                <a:ea typeface="Inter Italics"/>
                <a:cs typeface="Inter Italics"/>
                <a:sym typeface="Inter Italics"/>
              </a:rPr>
              <a:t>y (Integer / Scalar) </a:t>
            </a:r>
          </a:p>
          <a:p>
            <a:pPr algn="l">
              <a:lnSpc>
                <a:spcPts val="3919"/>
              </a:lnSpc>
            </a:pPr>
            <a:r>
              <a:rPr lang="en-US" sz="2799" i="true">
                <a:solidFill>
                  <a:srgbClr val="000000"/>
                </a:solidFill>
                <a:latin typeface="Inter Italics"/>
                <a:ea typeface="Inter Italics"/>
                <a:cs typeface="Inter Italics"/>
                <a:sym typeface="Inter Italics"/>
              </a:rPr>
              <a:t>Q: Public Key (Resulting Point)</a:t>
            </a:r>
          </a:p>
          <a:p>
            <a:pPr algn="l">
              <a:lnSpc>
                <a:spcPts val="3919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22" r="0" b="-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81877" y="4307050"/>
            <a:ext cx="5435903" cy="1672900"/>
            <a:chOff x="0" y="0"/>
            <a:chExt cx="1431678" cy="44059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31678" cy="440599"/>
            </a:xfrm>
            <a:custGeom>
              <a:avLst/>
              <a:gdLst/>
              <a:ahLst/>
              <a:cxnLst/>
              <a:rect r="r" b="b" t="t" l="l"/>
              <a:pathLst>
                <a:path h="440599" w="1431678">
                  <a:moveTo>
                    <a:pt x="0" y="0"/>
                  </a:moveTo>
                  <a:lnTo>
                    <a:pt x="1431678" y="0"/>
                  </a:lnTo>
                  <a:lnTo>
                    <a:pt x="1431678" y="440599"/>
                  </a:lnTo>
                  <a:lnTo>
                    <a:pt x="0" y="440599"/>
                  </a:lnTo>
                  <a:close/>
                </a:path>
              </a:pathLst>
            </a:custGeom>
            <a:solidFill>
              <a:srgbClr val="ECE5DB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431678" cy="4882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6359779" y="688641"/>
            <a:ext cx="1670535" cy="1670535"/>
          </a:xfrm>
          <a:custGeom>
            <a:avLst/>
            <a:gdLst/>
            <a:ahLst/>
            <a:cxnLst/>
            <a:rect r="r" b="b" t="t" l="l"/>
            <a:pathLst>
              <a:path h="1670535" w="1670535">
                <a:moveTo>
                  <a:pt x="0" y="0"/>
                </a:moveTo>
                <a:lnTo>
                  <a:pt x="1670534" y="0"/>
                </a:lnTo>
                <a:lnTo>
                  <a:pt x="1670534" y="1670535"/>
                </a:lnTo>
                <a:lnTo>
                  <a:pt x="0" y="16705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1162050"/>
            <a:ext cx="15004538" cy="96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Sagemath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559201"/>
            <a:ext cx="14508928" cy="1481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SageMa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is an op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n-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sou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rce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ma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thematics 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so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wa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 system based on Python.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W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dely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use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in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cryp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gr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ap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y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an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 number the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or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y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It provides built-in, high-level functions for handling complex algebraic structures.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39859" y="4369435"/>
            <a:ext cx="10171606" cy="1481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ro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vides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nati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v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 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upp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or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 f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r: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Finite fields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Elliptic curves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6179975"/>
            <a:ext cx="14508928" cy="3462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Use of Sagemath</a:t>
            </a:r>
            <a:r>
              <a:rPr lang="en-US" sz="279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: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Defined and validated elliptic curves over both </a:t>
            </a:r>
            <a:r>
              <a:rPr lang="en-US" b="true" sz="27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prime fields GF( p )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and </a:t>
            </a:r>
            <a:r>
              <a:rPr lang="en-US" b="true" sz="27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extension fields GF( pⁿ )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 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Computed point order </a:t>
            </a:r>
            <a:r>
              <a:rPr lang="en-US" b="true" sz="27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Point.order()</a:t>
            </a: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and generator points </a:t>
            </a:r>
            <a:r>
              <a:rPr lang="en-US" b="true" sz="27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E.gens()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- EC point operations: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Scalar multiplication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Point addition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22" r="0" b="-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82167" y="7397862"/>
            <a:ext cx="5380585" cy="474647"/>
            <a:chOff x="0" y="0"/>
            <a:chExt cx="1417109" cy="1250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17109" cy="125010"/>
            </a:xfrm>
            <a:custGeom>
              <a:avLst/>
              <a:gdLst/>
              <a:ahLst/>
              <a:cxnLst/>
              <a:rect r="r" b="b" t="t" l="l"/>
              <a:pathLst>
                <a:path h="125010" w="1417109">
                  <a:moveTo>
                    <a:pt x="0" y="0"/>
                  </a:moveTo>
                  <a:lnTo>
                    <a:pt x="1417109" y="0"/>
                  </a:lnTo>
                  <a:lnTo>
                    <a:pt x="1417109" y="125010"/>
                  </a:lnTo>
                  <a:lnTo>
                    <a:pt x="0" y="125010"/>
                  </a:lnTo>
                  <a:close/>
                </a:path>
              </a:pathLst>
            </a:custGeom>
            <a:solidFill>
              <a:srgbClr val="ECE5DB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417109" cy="1726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036505" y="3241467"/>
            <a:ext cx="11869328" cy="6235956"/>
            <a:chOff x="0" y="0"/>
            <a:chExt cx="3126078" cy="164239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126078" cy="1642392"/>
            </a:xfrm>
            <a:custGeom>
              <a:avLst/>
              <a:gdLst/>
              <a:ahLst/>
              <a:cxnLst/>
              <a:rect r="r" b="b" t="t" l="l"/>
              <a:pathLst>
                <a:path h="1642392" w="3126078">
                  <a:moveTo>
                    <a:pt x="0" y="0"/>
                  </a:moveTo>
                  <a:lnTo>
                    <a:pt x="3126078" y="0"/>
                  </a:lnTo>
                  <a:lnTo>
                    <a:pt x="3126078" y="1642392"/>
                  </a:lnTo>
                  <a:lnTo>
                    <a:pt x="0" y="1642392"/>
                  </a:lnTo>
                  <a:close/>
                </a:path>
              </a:pathLst>
            </a:custGeom>
            <a:solidFill>
              <a:srgbClr val="ECE5DB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3126078" cy="16900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931957" y="841395"/>
            <a:ext cx="15004538" cy="1878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Algorithm for ORDER of an EC over a FINITE FIELD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29792" y="4503224"/>
            <a:ext cx="5429350" cy="3769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5"/>
              </a:lnSpc>
            </a:pPr>
            <a:r>
              <a:rPr lang="en-US" sz="236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Input Paramet</a:t>
            </a:r>
            <a:r>
              <a:rPr lang="en-US" sz="236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ers:</a:t>
            </a:r>
          </a:p>
          <a:p>
            <a:pPr algn="l" marL="509719" indent="-254859" lvl="1">
              <a:lnSpc>
                <a:spcPts val="3305"/>
              </a:lnSpc>
              <a:buFont typeface="Arial"/>
              <a:buChar char="•"/>
            </a:pP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Base_Field (p)</a:t>
            </a:r>
          </a:p>
          <a:p>
            <a:pPr algn="l" marL="509719" indent="-254859" lvl="1">
              <a:lnSpc>
                <a:spcPts val="3305"/>
              </a:lnSpc>
              <a:buFont typeface="Arial"/>
              <a:buChar char="•"/>
            </a:pP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Degree (n)</a:t>
            </a:r>
          </a:p>
          <a:p>
            <a:pPr algn="l" marL="509719" indent="-254859" lvl="1">
              <a:lnSpc>
                <a:spcPts val="3305"/>
              </a:lnSpc>
              <a:buFont typeface="Arial"/>
              <a:buChar char="•"/>
            </a:pP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Choice_of_Coeff (binary flag)</a:t>
            </a:r>
          </a:p>
          <a:p>
            <a:pPr algn="l" marL="509719" indent="-254859" lvl="1">
              <a:lnSpc>
                <a:spcPts val="3305"/>
              </a:lnSpc>
              <a:buFont typeface="Arial"/>
              <a:buChar char="•"/>
            </a:pP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Optionally, the coefficients a₁, a₂, a₃, a₄, a₆ for the general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Weierstrass equation</a:t>
            </a:r>
          </a:p>
          <a:p>
            <a:pPr algn="l">
              <a:lnSpc>
                <a:spcPts val="3305"/>
              </a:lnSpc>
            </a:pP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y² + 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a₁xy + a₃y = x³ + a₂x² + a₄x + a₆ defined over the field GF(pⁿ).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309885" y="3307530"/>
            <a:ext cx="11459679" cy="6283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5"/>
              </a:lnSpc>
            </a:pPr>
            <a:r>
              <a:rPr lang="en-US" sz="236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Algorithm</a:t>
            </a:r>
          </a:p>
          <a:p>
            <a:pPr algn="ctr">
              <a:lnSpc>
                <a:spcPts val="3305"/>
              </a:lnSpc>
            </a:pPr>
          </a:p>
          <a:p>
            <a:pPr algn="l">
              <a:lnSpc>
                <a:spcPts val="3305"/>
              </a:lnSpc>
            </a:pPr>
            <a:r>
              <a:rPr lang="en-US" sz="236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Step 1: Parse Arguments</a:t>
            </a:r>
          </a:p>
          <a:p>
            <a:pPr algn="l">
              <a:lnSpc>
                <a:spcPts val="3305"/>
              </a:lnSpc>
            </a:pPr>
            <a:r>
              <a:rPr lang="en-US" sz="2360" u="sng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Parse the cmd line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arguments to identify the base field prime (p),the extension degree (n),and the method of coefficient selection (manual or random ).</a:t>
            </a:r>
          </a:p>
          <a:p>
            <a:pPr algn="l">
              <a:lnSpc>
                <a:spcPts val="3305"/>
              </a:lnSpc>
            </a:pPr>
            <a:r>
              <a:rPr lang="en-US" sz="236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Step 2: Construct Field</a:t>
            </a:r>
          </a:p>
          <a:p>
            <a:pPr algn="l">
              <a:lnSpc>
                <a:spcPts val="3305"/>
              </a:lnSpc>
            </a:pPr>
            <a:r>
              <a:rPr lang="en-US" sz="2360" u="sng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Construct the finite field K = GF(pⁿ).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If n &gt; 1, define the field using a generator (a) to handle polynomial re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presentations of field elements.</a:t>
            </a:r>
          </a:p>
          <a:p>
            <a:pPr algn="l">
              <a:lnSpc>
                <a:spcPts val="3305"/>
              </a:lnSpc>
            </a:pPr>
            <a:r>
              <a:rPr lang="en-US" sz="236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Step 3:Assign Coefficients</a:t>
            </a:r>
          </a:p>
          <a:p>
            <a:pPr algn="l">
              <a:lnSpc>
                <a:spcPts val="3305"/>
              </a:lnSpc>
            </a:pP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Assign values to the coefficients a₁, a₂, a₃, a₄, a₆:</a:t>
            </a:r>
          </a:p>
          <a:p>
            <a:pPr algn="l" marL="509719" indent="-254859" lvl="1">
              <a:lnSpc>
                <a:spcPts val="3305"/>
              </a:lnSpc>
              <a:buFont typeface="Arial"/>
              <a:buChar char="•"/>
            </a:pP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If Choice_of_Coeff is 0: Convert the provided command line strings into field elements(integers when n = 1, or polynomials in (a) when n &gt; 1).</a:t>
            </a:r>
          </a:p>
          <a:p>
            <a:pPr algn="l" marL="509719" indent="-254859" lvl="1">
              <a:lnSpc>
                <a:spcPts val="3305"/>
              </a:lnSpc>
              <a:buFont typeface="Arial"/>
              <a:buChar char="•"/>
            </a:pP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If Choice_of_Coeff is 1:Generate a random element from the field K for each of the five coefficients.</a:t>
            </a:r>
          </a:p>
          <a:p>
            <a:pPr algn="l">
              <a:lnSpc>
                <a:spcPts val="3305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22" r="0" b="-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01021" y="2719725"/>
            <a:ext cx="16158279" cy="6878999"/>
            <a:chOff x="0" y="0"/>
            <a:chExt cx="4255678" cy="181175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55678" cy="1811753"/>
            </a:xfrm>
            <a:custGeom>
              <a:avLst/>
              <a:gdLst/>
              <a:ahLst/>
              <a:cxnLst/>
              <a:rect r="r" b="b" t="t" l="l"/>
              <a:pathLst>
                <a:path h="1811753" w="4255678">
                  <a:moveTo>
                    <a:pt x="0" y="0"/>
                  </a:moveTo>
                  <a:lnTo>
                    <a:pt x="4255678" y="0"/>
                  </a:lnTo>
                  <a:lnTo>
                    <a:pt x="4255678" y="1811753"/>
                  </a:lnTo>
                  <a:lnTo>
                    <a:pt x="0" y="1811753"/>
                  </a:lnTo>
                  <a:close/>
                </a:path>
              </a:pathLst>
            </a:custGeom>
            <a:solidFill>
              <a:srgbClr val="ECE5DB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255678" cy="18593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366192" y="2802886"/>
            <a:ext cx="15313285" cy="7121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5"/>
              </a:lnSpc>
            </a:pPr>
            <a:r>
              <a:rPr lang="en-US" sz="236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Algorithm (cont.)</a:t>
            </a:r>
          </a:p>
          <a:p>
            <a:pPr algn="ctr">
              <a:lnSpc>
                <a:spcPts val="3305"/>
              </a:lnSpc>
            </a:pPr>
          </a:p>
          <a:p>
            <a:pPr algn="l">
              <a:lnSpc>
                <a:spcPts val="3305"/>
              </a:lnSpc>
            </a:pPr>
            <a:r>
              <a:rPr lang="en-US" sz="236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Step 4:Define Curve</a:t>
            </a:r>
          </a:p>
          <a:p>
            <a:pPr algn="l">
              <a:lnSpc>
                <a:spcPts val="3305"/>
              </a:lnSpc>
            </a:pP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Defin</a:t>
            </a:r>
            <a:r>
              <a:rPr lang="en-US" sz="2360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 the 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el</a:t>
            </a:r>
            <a:r>
              <a:rPr lang="en-US" sz="2360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li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ptic c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urve E over the field K using the general Weierstrass model.</a:t>
            </a:r>
          </a:p>
          <a:p>
            <a:pPr algn="l">
              <a:lnSpc>
                <a:spcPts val="3305"/>
              </a:lnSpc>
            </a:pPr>
            <a:r>
              <a:rPr lang="en-US" sz="236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Step 5:Compute Order</a:t>
            </a:r>
          </a:p>
          <a:p>
            <a:pPr algn="l">
              <a:lnSpc>
                <a:spcPts val="3305"/>
              </a:lnSpc>
            </a:pPr>
            <a:r>
              <a:rPr lang="en-US" sz="2360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mp</a:t>
            </a:r>
            <a:r>
              <a:rPr lang="en-US" sz="2360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ut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</a:t>
            </a:r>
            <a:r>
              <a:rPr lang="en-US" sz="2360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the 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order o</a:t>
            </a:r>
            <a:r>
              <a:rPr lang="en-US" sz="2360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360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</a:t>
            </a:r>
            <a:r>
              <a:rPr lang="en-US" sz="2360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 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curv</a:t>
            </a:r>
            <a:r>
              <a:rPr lang="en-US" sz="2360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 (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</a:t>
            </a:r>
            <a:r>
              <a:rPr lang="en-US" sz="2360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using the built-in</a:t>
            </a:r>
            <a:r>
              <a:rPr lang="en-US" sz="236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E.order()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function, which applies optimized 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point-counting algorithms .</a:t>
            </a:r>
          </a:p>
          <a:p>
            <a:pPr algn="l">
              <a:lnSpc>
                <a:spcPts val="3305"/>
              </a:lnSpc>
            </a:pPr>
            <a:r>
              <a:rPr lang="en-US" sz="236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Step 6:Find Generators</a:t>
            </a:r>
          </a:p>
          <a:p>
            <a:pPr algn="l">
              <a:lnSpc>
                <a:spcPts val="3305"/>
              </a:lnSpc>
            </a:pP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Identify a set of generator points for the group of points on the curve using </a:t>
            </a:r>
            <a:r>
              <a:rPr lang="en-US" sz="236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E.gens()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algn="l">
              <a:lnSpc>
                <a:spcPts val="3305"/>
              </a:lnSpc>
            </a:pPr>
            <a:r>
              <a:rPr lang="en-US" sz="236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Step 7:Check Primality</a:t>
            </a:r>
          </a:p>
          <a:p>
            <a:pPr algn="l">
              <a:lnSpc>
                <a:spcPts val="3305"/>
              </a:lnSpc>
            </a:pP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Perform a primality test on the calculated </a:t>
            </a:r>
            <a:r>
              <a:rPr lang="en-US" sz="2360" u="sng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Curve_Order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algn="l">
              <a:lnSpc>
                <a:spcPts val="3305"/>
              </a:lnSpc>
            </a:pPr>
            <a:r>
              <a:rPr lang="en-US" sz="236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Step 8:Display Results</a:t>
            </a:r>
          </a:p>
          <a:p>
            <a:pPr algn="l">
              <a:lnSpc>
                <a:spcPts val="3305"/>
              </a:lnSpc>
            </a:pP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Return and display:</a:t>
            </a:r>
          </a:p>
          <a:p>
            <a:pPr algn="l" marL="509719" indent="-254859" lvl="1">
              <a:lnSpc>
                <a:spcPts val="3305"/>
              </a:lnSpc>
              <a:buFont typeface="Arial"/>
              <a:buChar char="•"/>
            </a:pP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the elliptic curve equation,</a:t>
            </a:r>
          </a:p>
          <a:p>
            <a:pPr algn="l" marL="509719" indent="-254859" lvl="1">
              <a:lnSpc>
                <a:spcPts val="3305"/>
              </a:lnSpc>
              <a:buFont typeface="Arial"/>
              <a:buChar char="•"/>
            </a:pP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its total order (specifying if it is prime), and</a:t>
            </a:r>
          </a:p>
          <a:p>
            <a:pPr algn="l" marL="509719" indent="-254859" lvl="1">
              <a:lnSpc>
                <a:spcPts val="3305"/>
              </a:lnSpc>
              <a:buFont typeface="Arial"/>
              <a:buChar char="•"/>
            </a:pP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the identified generator points.</a:t>
            </a:r>
          </a:p>
          <a:p>
            <a:pPr algn="l">
              <a:lnSpc>
                <a:spcPts val="3305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931957" y="841395"/>
            <a:ext cx="15004538" cy="1878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Algorithm for ORDER of an EC over a FINITE FIELD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22" r="0" b="-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392866" y="144068"/>
            <a:ext cx="7502269" cy="617932"/>
            <a:chOff x="0" y="0"/>
            <a:chExt cx="1975906" cy="16274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75906" cy="162747"/>
            </a:xfrm>
            <a:custGeom>
              <a:avLst/>
              <a:gdLst/>
              <a:ahLst/>
              <a:cxnLst/>
              <a:rect r="r" b="b" t="t" l="l"/>
              <a:pathLst>
                <a:path h="162747" w="1975906">
                  <a:moveTo>
                    <a:pt x="0" y="0"/>
                  </a:moveTo>
                  <a:lnTo>
                    <a:pt x="1975906" y="0"/>
                  </a:lnTo>
                  <a:lnTo>
                    <a:pt x="1975906" y="162747"/>
                  </a:lnTo>
                  <a:lnTo>
                    <a:pt x="0" y="162747"/>
                  </a:lnTo>
                  <a:close/>
                </a:path>
              </a:pathLst>
            </a:custGeom>
            <a:solidFill>
              <a:srgbClr val="ECE5DB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975906" cy="2103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  <a:r>
                <a:rPr lang="en-US" b="true" sz="2100" u="sng">
                  <a:solidFill>
                    <a:srgbClr val="22359F"/>
                  </a:solidFill>
                  <a:latin typeface="Inter Medium"/>
                  <a:ea typeface="Inter Medium"/>
                  <a:cs typeface="Inter Medium"/>
                  <a:sym typeface="Inter Medium"/>
                  <a:hlinkClick r:id="rId3" tooltip="https://be-projects-2026.onrender.com/tools/ECA_Tools/"/>
                </a:rPr>
                <a:t>https://be-projects-2026.onrender.com/tools/ECA_Tools/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467743" y="4165943"/>
            <a:ext cx="9850245" cy="4694891"/>
          </a:xfrm>
          <a:custGeom>
            <a:avLst/>
            <a:gdLst/>
            <a:ahLst/>
            <a:cxnLst/>
            <a:rect r="r" b="b" t="t" l="l"/>
            <a:pathLst>
              <a:path h="4694891" w="9850245">
                <a:moveTo>
                  <a:pt x="0" y="0"/>
                </a:moveTo>
                <a:lnTo>
                  <a:pt x="9850245" y="0"/>
                </a:lnTo>
                <a:lnTo>
                  <a:pt x="9850245" y="4694891"/>
                </a:lnTo>
                <a:lnTo>
                  <a:pt x="0" y="46948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5041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1162050"/>
            <a:ext cx="15004538" cy="96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Web Application &amp; Results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10148" y="2322252"/>
            <a:ext cx="5957609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AutoNum type="arabicPeriod" startAt="1"/>
            </a:pP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EC Order with Random Coeff : 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0582609" y="3268646"/>
            <a:ext cx="6930556" cy="6202848"/>
          </a:xfrm>
          <a:custGeom>
            <a:avLst/>
            <a:gdLst/>
            <a:ahLst/>
            <a:cxnLst/>
            <a:rect r="r" b="b" t="t" l="l"/>
            <a:pathLst>
              <a:path h="6202848" w="6930556">
                <a:moveTo>
                  <a:pt x="0" y="0"/>
                </a:moveTo>
                <a:lnTo>
                  <a:pt x="6930556" y="0"/>
                </a:lnTo>
                <a:lnTo>
                  <a:pt x="6930556" y="6202848"/>
                </a:lnTo>
                <a:lnTo>
                  <a:pt x="0" y="62028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22" r="0" b="-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392866" y="144068"/>
            <a:ext cx="7502269" cy="617932"/>
            <a:chOff x="0" y="0"/>
            <a:chExt cx="1975906" cy="16274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75906" cy="162747"/>
            </a:xfrm>
            <a:custGeom>
              <a:avLst/>
              <a:gdLst/>
              <a:ahLst/>
              <a:cxnLst/>
              <a:rect r="r" b="b" t="t" l="l"/>
              <a:pathLst>
                <a:path h="162747" w="1975906">
                  <a:moveTo>
                    <a:pt x="0" y="0"/>
                  </a:moveTo>
                  <a:lnTo>
                    <a:pt x="1975906" y="0"/>
                  </a:lnTo>
                  <a:lnTo>
                    <a:pt x="1975906" y="162747"/>
                  </a:lnTo>
                  <a:lnTo>
                    <a:pt x="0" y="162747"/>
                  </a:lnTo>
                  <a:close/>
                </a:path>
              </a:pathLst>
            </a:custGeom>
            <a:solidFill>
              <a:srgbClr val="ECE5DB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975906" cy="2103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  <a:r>
                <a:rPr lang="en-US" b="true" sz="2100" u="sng">
                  <a:solidFill>
                    <a:srgbClr val="22359F"/>
                  </a:solidFill>
                  <a:latin typeface="Inter Medium"/>
                  <a:ea typeface="Inter Medium"/>
                  <a:cs typeface="Inter Medium"/>
                  <a:sym typeface="Inter Medium"/>
                  <a:hlinkClick r:id="rId3" tooltip="https://be-projects-2026.onrender.com/tools/ECA_Tools/"/>
                </a:rPr>
                <a:t>https://be-projects-2026.onrender.com/tools/ECA_Tools/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888161" y="3642288"/>
            <a:ext cx="8255839" cy="6175962"/>
          </a:xfrm>
          <a:custGeom>
            <a:avLst/>
            <a:gdLst/>
            <a:ahLst/>
            <a:cxnLst/>
            <a:rect r="r" b="b" t="t" l="l"/>
            <a:pathLst>
              <a:path h="6175962" w="8255839">
                <a:moveTo>
                  <a:pt x="0" y="0"/>
                </a:moveTo>
                <a:lnTo>
                  <a:pt x="8255839" y="0"/>
                </a:lnTo>
                <a:lnTo>
                  <a:pt x="8255839" y="6175962"/>
                </a:lnTo>
                <a:lnTo>
                  <a:pt x="0" y="61759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009837" y="3478456"/>
            <a:ext cx="6918940" cy="6408668"/>
          </a:xfrm>
          <a:custGeom>
            <a:avLst/>
            <a:gdLst/>
            <a:ahLst/>
            <a:cxnLst/>
            <a:rect r="r" b="b" t="t" l="l"/>
            <a:pathLst>
              <a:path h="6408668" w="6918940">
                <a:moveTo>
                  <a:pt x="0" y="0"/>
                </a:moveTo>
                <a:lnTo>
                  <a:pt x="6918940" y="0"/>
                </a:lnTo>
                <a:lnTo>
                  <a:pt x="6918940" y="6408668"/>
                </a:lnTo>
                <a:lnTo>
                  <a:pt x="0" y="64086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1162050"/>
            <a:ext cx="16713668" cy="96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Web Application &amp; Results (cont.)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736551" y="2720901"/>
            <a:ext cx="5511807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2. EC Order with Manual Coeff  : 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22" r="0" b="-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82167" y="8667558"/>
            <a:ext cx="5380585" cy="474647"/>
            <a:chOff x="0" y="0"/>
            <a:chExt cx="1417109" cy="1250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17109" cy="125010"/>
            </a:xfrm>
            <a:custGeom>
              <a:avLst/>
              <a:gdLst/>
              <a:ahLst/>
              <a:cxnLst/>
              <a:rect r="r" b="b" t="t" l="l"/>
              <a:pathLst>
                <a:path h="125010" w="1417109">
                  <a:moveTo>
                    <a:pt x="0" y="0"/>
                  </a:moveTo>
                  <a:lnTo>
                    <a:pt x="1417109" y="0"/>
                  </a:lnTo>
                  <a:lnTo>
                    <a:pt x="1417109" y="125010"/>
                  </a:lnTo>
                  <a:lnTo>
                    <a:pt x="0" y="125010"/>
                  </a:lnTo>
                  <a:close/>
                </a:path>
              </a:pathLst>
            </a:custGeom>
            <a:solidFill>
              <a:srgbClr val="ECE5DB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417109" cy="1726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036505" y="3241467"/>
            <a:ext cx="11869328" cy="6510062"/>
            <a:chOff x="0" y="0"/>
            <a:chExt cx="3126078" cy="171458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126078" cy="1714584"/>
            </a:xfrm>
            <a:custGeom>
              <a:avLst/>
              <a:gdLst/>
              <a:ahLst/>
              <a:cxnLst/>
              <a:rect r="r" b="b" t="t" l="l"/>
              <a:pathLst>
                <a:path h="1714584" w="3126078">
                  <a:moveTo>
                    <a:pt x="0" y="0"/>
                  </a:moveTo>
                  <a:lnTo>
                    <a:pt x="3126078" y="0"/>
                  </a:lnTo>
                  <a:lnTo>
                    <a:pt x="3126078" y="1714584"/>
                  </a:lnTo>
                  <a:lnTo>
                    <a:pt x="0" y="1714584"/>
                  </a:lnTo>
                  <a:close/>
                </a:path>
              </a:pathLst>
            </a:custGeom>
            <a:solidFill>
              <a:srgbClr val="ECE5DB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3126078" cy="17622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494640" y="3193741"/>
            <a:ext cx="5429350" cy="6283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5"/>
              </a:lnSpc>
            </a:pPr>
            <a:r>
              <a:rPr lang="en-US" sz="236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Input Paramet</a:t>
            </a:r>
            <a:r>
              <a:rPr lang="en-US" sz="236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ers:</a:t>
            </a:r>
          </a:p>
          <a:p>
            <a:pPr algn="l">
              <a:lnSpc>
                <a:spcPts val="3305"/>
              </a:lnSpc>
            </a:pP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The script takes seven input parameters via command-line arguments:</a:t>
            </a:r>
          </a:p>
          <a:p>
            <a:pPr algn="l" marL="509719" indent="-254859" lvl="1">
              <a:lnSpc>
                <a:spcPts val="3305"/>
              </a:lnSpc>
              <a:buFont typeface="Arial"/>
              <a:buChar char="•"/>
            </a:pPr>
            <a:r>
              <a:rPr lang="en-US" b="true" sz="236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Base_Field: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A prime number representing the characteristic of the field</a:t>
            </a:r>
          </a:p>
          <a:p>
            <a:pPr algn="l" marL="509719" indent="-254859" lvl="1">
              <a:lnSpc>
                <a:spcPts val="3305"/>
              </a:lnSpc>
              <a:buFont typeface="Arial"/>
              <a:buChar char="•"/>
            </a:pPr>
            <a:r>
              <a:rPr lang="en-US" b="true" sz="236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Degree: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The degree 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of the extension field</a:t>
            </a:r>
          </a:p>
          <a:p>
            <a:pPr algn="l" marL="509719" indent="-254859" lvl="1">
              <a:lnSpc>
                <a:spcPts val="3305"/>
              </a:lnSpc>
              <a:buFont typeface="Arial"/>
              <a:buChar char="•"/>
            </a:pPr>
            <a:r>
              <a:rPr lang="en-US" b="true" sz="236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Coeff_a₁, Coeff_a₂, Coeff_a₃, Coeff_a₄, Coeff_a₆: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The five coefficients of the General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Weierstrass equation</a:t>
            </a:r>
          </a:p>
          <a:p>
            <a:pPr algn="l">
              <a:lnSpc>
                <a:spcPts val="3305"/>
              </a:lnSpc>
            </a:pP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y² + 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a₁xy + a₃y = x³ + a₂x² + a₄x + a₆</a:t>
            </a:r>
          </a:p>
          <a:p>
            <a:pPr algn="l">
              <a:lnSpc>
                <a:spcPts val="3305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6309885" y="3307530"/>
            <a:ext cx="11459679" cy="6702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5"/>
              </a:lnSpc>
            </a:pPr>
            <a:r>
              <a:rPr lang="en-US" sz="236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Algorithm</a:t>
            </a:r>
          </a:p>
          <a:p>
            <a:pPr algn="ctr">
              <a:lnSpc>
                <a:spcPts val="3305"/>
              </a:lnSpc>
            </a:pPr>
          </a:p>
          <a:p>
            <a:pPr algn="l">
              <a:lnSpc>
                <a:spcPts val="3305"/>
              </a:lnSpc>
            </a:pPr>
            <a:r>
              <a:rPr lang="en-US" sz="236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Step 1:</a:t>
            </a:r>
          </a:p>
          <a:p>
            <a:pPr algn="l">
              <a:lnSpc>
                <a:spcPts val="3305"/>
              </a:lnSpc>
            </a:pP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Validate the </a:t>
            </a:r>
            <a:r>
              <a:rPr lang="en-US" sz="236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B</a:t>
            </a:r>
            <a:r>
              <a:rPr lang="en-US" b="true" sz="2360" u="non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ase</a:t>
            </a:r>
            <a:r>
              <a:rPr lang="en-US" sz="236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_Field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 If</a:t>
            </a:r>
            <a:r>
              <a:rPr lang="en-US" sz="2360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the 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provi</a:t>
            </a:r>
            <a:r>
              <a:rPr lang="en-US" sz="2360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 v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alue is not prime,determine and use the next available prime number.</a:t>
            </a:r>
          </a:p>
          <a:p>
            <a:pPr algn="l">
              <a:lnSpc>
                <a:spcPts val="3305"/>
              </a:lnSpc>
            </a:pPr>
            <a:r>
              <a:rPr lang="en-US" sz="236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Step 2:</a:t>
            </a:r>
          </a:p>
          <a:p>
            <a:pPr algn="l">
              <a:lnSpc>
                <a:spcPts val="3305"/>
              </a:lnSpc>
            </a:pP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Defi</a:t>
            </a:r>
            <a:r>
              <a:rPr lang="en-US" sz="2360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</a:t>
            </a:r>
            <a:r>
              <a:rPr lang="en-US" sz="2360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the finite field K 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using the validated </a:t>
            </a:r>
            <a:r>
              <a:rPr lang="en-US" sz="236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Base_Field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and the given </a:t>
            </a:r>
            <a:r>
              <a:rPr lang="en-US" sz="236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Deg</a:t>
            </a:r>
            <a:r>
              <a:rPr lang="en-US" sz="236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ree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algn="l">
              <a:lnSpc>
                <a:spcPts val="3305"/>
              </a:lnSpc>
            </a:pPr>
            <a:r>
              <a:rPr lang="en-US" sz="236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Step 3:</a:t>
            </a:r>
          </a:p>
          <a:p>
            <a:pPr algn="l">
              <a:lnSpc>
                <a:spcPts val="3305"/>
              </a:lnSpc>
            </a:pP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Initialize the elliptic curve E over the field K using the provided coefficients </a:t>
            </a:r>
          </a:p>
          <a:p>
            <a:pPr algn="l">
              <a:lnSpc>
                <a:spcPts val="3305"/>
              </a:lnSpc>
            </a:pP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(a₁, a₂, a₃, a₄, a₆).</a:t>
            </a:r>
          </a:p>
          <a:p>
            <a:pPr algn="l">
              <a:lnSpc>
                <a:spcPts val="3305"/>
              </a:lnSpc>
            </a:pPr>
            <a:r>
              <a:rPr lang="en-US" sz="236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Step 4:</a:t>
            </a:r>
          </a:p>
          <a:p>
            <a:pPr algn="l">
              <a:lnSpc>
                <a:spcPts val="3305"/>
              </a:lnSpc>
            </a:pP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Determine the symmetry of the curve:</a:t>
            </a:r>
          </a:p>
          <a:p>
            <a:pPr algn="l" marL="509719" indent="-254859" lvl="1">
              <a:lnSpc>
                <a:spcPts val="3305"/>
              </a:lnSpc>
              <a:buFont typeface="Arial"/>
              <a:buChar char="•"/>
            </a:pP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If both a₁ and a₃ are zero, mark the curve as </a:t>
            </a:r>
            <a:r>
              <a:rPr lang="en-US" b="true" sz="236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Symmetric across the X-axis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(suitable for cryptographic applications).</a:t>
            </a:r>
          </a:p>
          <a:p>
            <a:pPr algn="l" marL="509719" indent="-254859" lvl="1">
              <a:lnSpc>
                <a:spcPts val="3305"/>
              </a:lnSpc>
              <a:buFont typeface="Arial"/>
              <a:buChar char="•"/>
            </a:pP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Otherwise, mark the curve as </a:t>
            </a:r>
            <a:r>
              <a:rPr lang="en-US" b="true" sz="236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Non-Symmetric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algn="l">
              <a:lnSpc>
                <a:spcPts val="3305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931957" y="841395"/>
            <a:ext cx="15004538" cy="1878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Algorithm for listing Curve Points and their Orders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22" r="0" b="-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01021" y="2719725"/>
            <a:ext cx="16158279" cy="6878999"/>
            <a:chOff x="0" y="0"/>
            <a:chExt cx="4255678" cy="181175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55678" cy="1811753"/>
            </a:xfrm>
            <a:custGeom>
              <a:avLst/>
              <a:gdLst/>
              <a:ahLst/>
              <a:cxnLst/>
              <a:rect r="r" b="b" t="t" l="l"/>
              <a:pathLst>
                <a:path h="1811753" w="4255678">
                  <a:moveTo>
                    <a:pt x="0" y="0"/>
                  </a:moveTo>
                  <a:lnTo>
                    <a:pt x="4255678" y="0"/>
                  </a:lnTo>
                  <a:lnTo>
                    <a:pt x="4255678" y="1811753"/>
                  </a:lnTo>
                  <a:lnTo>
                    <a:pt x="0" y="1811753"/>
                  </a:lnTo>
                  <a:close/>
                </a:path>
              </a:pathLst>
            </a:custGeom>
            <a:solidFill>
              <a:srgbClr val="ECE5DB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255678" cy="18593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366192" y="2802886"/>
            <a:ext cx="15313285" cy="6702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5"/>
              </a:lnSpc>
            </a:pPr>
            <a:r>
              <a:rPr lang="en-US" sz="236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Algorithm (cont.)</a:t>
            </a:r>
          </a:p>
          <a:p>
            <a:pPr algn="ctr">
              <a:lnSpc>
                <a:spcPts val="3305"/>
              </a:lnSpc>
            </a:pPr>
          </a:p>
          <a:p>
            <a:pPr algn="l">
              <a:lnSpc>
                <a:spcPts val="3305"/>
              </a:lnSpc>
            </a:pPr>
            <a:r>
              <a:rPr lang="en-US" sz="236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Step 5:</a:t>
            </a:r>
          </a:p>
          <a:p>
            <a:pPr algn="l">
              <a:lnSpc>
                <a:spcPts val="3305"/>
              </a:lnSpc>
            </a:pP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Comput</a:t>
            </a:r>
            <a:r>
              <a:rPr lang="en-US" sz="2360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 the </a:t>
            </a:r>
            <a:r>
              <a:rPr lang="en-US" b="true" sz="2360" u="non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</a:t>
            </a:r>
            <a:r>
              <a:rPr lang="en-US" sz="236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urve_Order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(total number of points on the curve) and </a:t>
            </a:r>
            <a:r>
              <a:rPr lang="en-US" sz="2360" u="sng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generate the complete list of points</a:t>
            </a:r>
            <a:r>
              <a:rPr lang="en-US" sz="2360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(Lst_of_Pts),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including the </a:t>
            </a:r>
            <a:r>
              <a:rPr lang="en-US" sz="2360" u="sng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point at infinity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algn="l">
              <a:lnSpc>
                <a:spcPts val="3305"/>
              </a:lnSpc>
            </a:pPr>
            <a:r>
              <a:rPr lang="en-US" sz="236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Step 6:</a:t>
            </a:r>
          </a:p>
          <a:p>
            <a:pPr algn="l">
              <a:lnSpc>
                <a:spcPts val="3305"/>
              </a:lnSpc>
            </a:pP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Print the first point, which is the </a:t>
            </a:r>
            <a:r>
              <a:rPr lang="en-US" sz="2360" u="sng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</a:t>
            </a:r>
            <a:r>
              <a:rPr lang="en-US" sz="2360" u="sng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oint at Infinity O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, along with its </a:t>
            </a:r>
            <a:r>
              <a:rPr lang="en-US" sz="2360" u="sng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order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algn="l">
              <a:lnSpc>
                <a:spcPts val="3305"/>
              </a:lnSpc>
            </a:pPr>
            <a:r>
              <a:rPr lang="en-US" sz="236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Step 7:</a:t>
            </a:r>
          </a:p>
          <a:p>
            <a:pPr algn="l">
              <a:lnSpc>
                <a:spcPts val="3305"/>
              </a:lnSpc>
            </a:pP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Iterate through the remaining points in the list:</a:t>
            </a:r>
          </a:p>
          <a:p>
            <a:pPr algn="l" marL="509719" indent="-254859" lvl="1">
              <a:lnSpc>
                <a:spcPts val="3305"/>
              </a:lnSpc>
              <a:buFont typeface="Arial"/>
              <a:buChar char="•"/>
            </a:pP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If the</a:t>
            </a:r>
            <a:r>
              <a:rPr lang="en-US" b="true" sz="236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curve is Symmetric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</a:p>
          <a:p>
            <a:pPr algn="l" marL="1019438" indent="-339813" lvl="2">
              <a:lnSpc>
                <a:spcPts val="3305"/>
              </a:lnSpc>
              <a:buFont typeface="Arial"/>
              <a:buChar char="⚬"/>
            </a:pP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If a point lies on the </a:t>
            </a:r>
            <a:r>
              <a:rPr lang="en-US" sz="2360" u="sng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X-axis (y = 0)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, print the </a:t>
            </a:r>
            <a:r>
              <a:rPr lang="en-US" sz="2360" u="sng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point individually 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along with its </a:t>
            </a:r>
            <a:r>
              <a:rPr lang="en-US" sz="2360" u="sng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order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algn="l" marL="1019438" indent="-339813" lvl="2">
              <a:lnSpc>
                <a:spcPts val="3305"/>
              </a:lnSpc>
              <a:buFont typeface="Arial"/>
              <a:buChar char="⚬"/>
            </a:pP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If a point </a:t>
            </a:r>
            <a:r>
              <a:rPr lang="en-US" sz="2360" u="sng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does </a:t>
            </a:r>
            <a:r>
              <a:rPr lang="en-US" b="true" sz="2360" u="sng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not </a:t>
            </a:r>
            <a:r>
              <a:rPr lang="en-US" sz="2360" u="sng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lie on the X-axis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, print the </a:t>
            </a:r>
            <a:r>
              <a:rPr lang="en-US" sz="2360" u="sng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point together with its vertical reflection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as a </a:t>
            </a:r>
            <a:r>
              <a:rPr lang="en-US" sz="2360" u="sng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pair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, displaying their </a:t>
            </a:r>
            <a:r>
              <a:rPr lang="en-US" sz="2360" u="sng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common order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algn="l" marL="509719" indent="-254859" lvl="1">
              <a:lnSpc>
                <a:spcPts val="3305"/>
              </a:lnSpc>
              <a:buFont typeface="Arial"/>
              <a:buChar char="•"/>
            </a:pP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If the </a:t>
            </a:r>
            <a:r>
              <a:rPr lang="en-US" b="true" sz="236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curve is Non-Symmetric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</a:p>
          <a:p>
            <a:pPr algn="l" marL="1019438" indent="-339813" lvl="2">
              <a:lnSpc>
                <a:spcPts val="3305"/>
              </a:lnSpc>
              <a:buFont typeface="Arial"/>
              <a:buChar char="⚬"/>
            </a:pP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Iterate through all remaining points and </a:t>
            </a:r>
            <a:r>
              <a:rPr lang="en-US" sz="2360" u="sng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print each point individually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along with its </a:t>
            </a:r>
            <a:r>
              <a:rPr lang="en-US" sz="2360" u="sng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calculated order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algn="l">
              <a:lnSpc>
                <a:spcPts val="3305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931957" y="841395"/>
            <a:ext cx="15004538" cy="1878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Algorithm for listing Curve Points and their Orders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22" r="0" b="-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392866" y="144068"/>
            <a:ext cx="7502269" cy="617932"/>
            <a:chOff x="0" y="0"/>
            <a:chExt cx="1975906" cy="16274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75906" cy="162747"/>
            </a:xfrm>
            <a:custGeom>
              <a:avLst/>
              <a:gdLst/>
              <a:ahLst/>
              <a:cxnLst/>
              <a:rect r="r" b="b" t="t" l="l"/>
              <a:pathLst>
                <a:path h="162747" w="1975906">
                  <a:moveTo>
                    <a:pt x="0" y="0"/>
                  </a:moveTo>
                  <a:lnTo>
                    <a:pt x="1975906" y="0"/>
                  </a:lnTo>
                  <a:lnTo>
                    <a:pt x="1975906" y="162747"/>
                  </a:lnTo>
                  <a:lnTo>
                    <a:pt x="0" y="162747"/>
                  </a:lnTo>
                  <a:close/>
                </a:path>
              </a:pathLst>
            </a:custGeom>
            <a:solidFill>
              <a:srgbClr val="ECE5DB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975906" cy="2103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  <a:r>
                <a:rPr lang="en-US" b="true" sz="2100" u="sng">
                  <a:solidFill>
                    <a:srgbClr val="22359F"/>
                  </a:solidFill>
                  <a:latin typeface="Inter Medium"/>
                  <a:ea typeface="Inter Medium"/>
                  <a:cs typeface="Inter Medium"/>
                  <a:sym typeface="Inter Medium"/>
                  <a:hlinkClick r:id="rId3" tooltip="https://be-projects-2026.onrender.com/tools/ECA_Tools/"/>
                </a:rPr>
                <a:t>https://be-projects-2026.onrender.com/tools/ECA_Tools/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854021" y="4277871"/>
            <a:ext cx="8153314" cy="3779401"/>
          </a:xfrm>
          <a:custGeom>
            <a:avLst/>
            <a:gdLst/>
            <a:ahLst/>
            <a:cxnLst/>
            <a:rect r="r" b="b" t="t" l="l"/>
            <a:pathLst>
              <a:path h="3779401" w="8153314">
                <a:moveTo>
                  <a:pt x="0" y="0"/>
                </a:moveTo>
                <a:lnTo>
                  <a:pt x="8153313" y="0"/>
                </a:lnTo>
                <a:lnTo>
                  <a:pt x="8153313" y="3779401"/>
                </a:lnTo>
                <a:lnTo>
                  <a:pt x="0" y="37794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181186" y="3316756"/>
            <a:ext cx="6225446" cy="6510271"/>
          </a:xfrm>
          <a:custGeom>
            <a:avLst/>
            <a:gdLst/>
            <a:ahLst/>
            <a:cxnLst/>
            <a:rect r="r" b="b" t="t" l="l"/>
            <a:pathLst>
              <a:path h="6510271" w="6225446">
                <a:moveTo>
                  <a:pt x="0" y="0"/>
                </a:moveTo>
                <a:lnTo>
                  <a:pt x="6225446" y="0"/>
                </a:lnTo>
                <a:lnTo>
                  <a:pt x="6225446" y="6510271"/>
                </a:lnTo>
                <a:lnTo>
                  <a:pt x="0" y="65102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1162050"/>
            <a:ext cx="15004538" cy="96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Web Application &amp; Results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930677" y="2559201"/>
            <a:ext cx="14508928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AutoNum type="arabicPeriod" startAt="1"/>
            </a:pP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List EC Points and Order :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22" r="0" b="-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392866" y="144068"/>
            <a:ext cx="7502269" cy="617932"/>
            <a:chOff x="0" y="0"/>
            <a:chExt cx="1975906" cy="16274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75906" cy="162747"/>
            </a:xfrm>
            <a:custGeom>
              <a:avLst/>
              <a:gdLst/>
              <a:ahLst/>
              <a:cxnLst/>
              <a:rect r="r" b="b" t="t" l="l"/>
              <a:pathLst>
                <a:path h="162747" w="1975906">
                  <a:moveTo>
                    <a:pt x="0" y="0"/>
                  </a:moveTo>
                  <a:lnTo>
                    <a:pt x="1975906" y="0"/>
                  </a:lnTo>
                  <a:lnTo>
                    <a:pt x="1975906" y="162747"/>
                  </a:lnTo>
                  <a:lnTo>
                    <a:pt x="0" y="162747"/>
                  </a:lnTo>
                  <a:close/>
                </a:path>
              </a:pathLst>
            </a:custGeom>
            <a:solidFill>
              <a:srgbClr val="ECE5DB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975906" cy="2103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  <a:r>
                <a:rPr lang="en-US" b="true" sz="2100" u="sng">
                  <a:solidFill>
                    <a:srgbClr val="22359F"/>
                  </a:solidFill>
                  <a:latin typeface="Inter Medium"/>
                  <a:ea typeface="Inter Medium"/>
                  <a:cs typeface="Inter Medium"/>
                  <a:sym typeface="Inter Medium"/>
                  <a:hlinkClick r:id="rId3" tooltip="https://be-projects-2026.onrender.com/tools/ECA_Tools/"/>
                </a:rPr>
                <a:t>https://be-projects-2026.onrender.com/tools/ECA_Tools/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883336" y="3609371"/>
            <a:ext cx="7858539" cy="5934622"/>
          </a:xfrm>
          <a:custGeom>
            <a:avLst/>
            <a:gdLst/>
            <a:ahLst/>
            <a:cxnLst/>
            <a:rect r="r" b="b" t="t" l="l"/>
            <a:pathLst>
              <a:path h="5934622" w="7858539">
                <a:moveTo>
                  <a:pt x="0" y="0"/>
                </a:moveTo>
                <a:lnTo>
                  <a:pt x="7858539" y="0"/>
                </a:lnTo>
                <a:lnTo>
                  <a:pt x="7858539" y="5934622"/>
                </a:lnTo>
                <a:lnTo>
                  <a:pt x="0" y="59346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782984" y="3398203"/>
            <a:ext cx="6205094" cy="6592398"/>
          </a:xfrm>
          <a:custGeom>
            <a:avLst/>
            <a:gdLst/>
            <a:ahLst/>
            <a:cxnLst/>
            <a:rect r="r" b="b" t="t" l="l"/>
            <a:pathLst>
              <a:path h="6592398" w="6205094">
                <a:moveTo>
                  <a:pt x="0" y="0"/>
                </a:moveTo>
                <a:lnTo>
                  <a:pt x="6205095" y="0"/>
                </a:lnTo>
                <a:lnTo>
                  <a:pt x="6205095" y="6592398"/>
                </a:lnTo>
                <a:lnTo>
                  <a:pt x="0" y="659239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1162050"/>
            <a:ext cx="16713668" cy="96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Web Application &amp; Results (cont.)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736551" y="2720901"/>
            <a:ext cx="5511807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2. EC Order with Manual Coeff  : 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22" r="0" b="-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42413" y="8010116"/>
            <a:ext cx="5380585" cy="987352"/>
            <a:chOff x="0" y="0"/>
            <a:chExt cx="1417109" cy="26004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17109" cy="260043"/>
            </a:xfrm>
            <a:custGeom>
              <a:avLst/>
              <a:gdLst/>
              <a:ahLst/>
              <a:cxnLst/>
              <a:rect r="r" b="b" t="t" l="l"/>
              <a:pathLst>
                <a:path h="260043" w="1417109">
                  <a:moveTo>
                    <a:pt x="0" y="0"/>
                  </a:moveTo>
                  <a:lnTo>
                    <a:pt x="1417109" y="0"/>
                  </a:lnTo>
                  <a:lnTo>
                    <a:pt x="1417109" y="260043"/>
                  </a:lnTo>
                  <a:lnTo>
                    <a:pt x="0" y="260043"/>
                  </a:lnTo>
                  <a:close/>
                </a:path>
              </a:pathLst>
            </a:custGeom>
            <a:solidFill>
              <a:srgbClr val="ECE5DB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417109" cy="3076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084277" y="2647722"/>
            <a:ext cx="11869328" cy="6510062"/>
            <a:chOff x="0" y="0"/>
            <a:chExt cx="3126078" cy="171458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126078" cy="1714584"/>
            </a:xfrm>
            <a:custGeom>
              <a:avLst/>
              <a:gdLst/>
              <a:ahLst/>
              <a:cxnLst/>
              <a:rect r="r" b="b" t="t" l="l"/>
              <a:pathLst>
                <a:path h="1714584" w="3126078">
                  <a:moveTo>
                    <a:pt x="0" y="0"/>
                  </a:moveTo>
                  <a:lnTo>
                    <a:pt x="3126078" y="0"/>
                  </a:lnTo>
                  <a:lnTo>
                    <a:pt x="3126078" y="1714584"/>
                  </a:lnTo>
                  <a:lnTo>
                    <a:pt x="0" y="1714584"/>
                  </a:lnTo>
                  <a:close/>
                </a:path>
              </a:pathLst>
            </a:custGeom>
            <a:solidFill>
              <a:srgbClr val="ECE5DB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3126078" cy="17622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542413" y="2599996"/>
            <a:ext cx="5429350" cy="7121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5"/>
              </a:lnSpc>
            </a:pPr>
            <a:r>
              <a:rPr lang="en-US" sz="236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Input Paramet</a:t>
            </a:r>
            <a:r>
              <a:rPr lang="en-US" sz="236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ers:</a:t>
            </a:r>
          </a:p>
          <a:p>
            <a:pPr algn="l">
              <a:lnSpc>
                <a:spcPts val="3305"/>
              </a:lnSpc>
            </a:pP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The script takes seven input parameters via command-line arguments:</a:t>
            </a:r>
          </a:p>
          <a:p>
            <a:pPr algn="l" marL="509719" indent="-254859" lvl="1">
              <a:lnSpc>
                <a:spcPts val="3305"/>
              </a:lnSpc>
              <a:buFont typeface="Arial"/>
              <a:buChar char="•"/>
            </a:pPr>
            <a:r>
              <a:rPr lang="en-US" b="true" sz="236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Base_Field: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A prime number representing the characteristic of the field</a:t>
            </a:r>
          </a:p>
          <a:p>
            <a:pPr algn="l" marL="509719" indent="-254859" lvl="1">
              <a:lnSpc>
                <a:spcPts val="3305"/>
              </a:lnSpc>
              <a:buFont typeface="Arial"/>
              <a:buChar char="•"/>
            </a:pPr>
            <a:r>
              <a:rPr lang="en-US" b="true" sz="236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Degree: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The degree 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of the extension field</a:t>
            </a:r>
          </a:p>
          <a:p>
            <a:pPr algn="l" marL="509719" indent="-254859" lvl="1">
              <a:lnSpc>
                <a:spcPts val="3305"/>
              </a:lnSpc>
              <a:buFont typeface="Arial"/>
              <a:buChar char="•"/>
            </a:pPr>
            <a:r>
              <a:rPr lang="en-US" b="true" sz="236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Coeff_a₁, Coeff_a₂, Coeff_a₃, Coeff_a₄, Coeff_a₆: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The five coefficients of the General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Weierstrass equation</a:t>
            </a:r>
          </a:p>
          <a:p>
            <a:pPr algn="l" marL="509719" indent="-254859" lvl="1">
              <a:lnSpc>
                <a:spcPts val="3305"/>
              </a:lnSpc>
              <a:buFont typeface="Arial"/>
              <a:buChar char="•"/>
            </a:pPr>
            <a:r>
              <a:rPr lang="en-US" b="true" sz="236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x₁, y₁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(Coordinates of point P)</a:t>
            </a:r>
          </a:p>
          <a:p>
            <a:pPr algn="l" marL="509719" indent="-254859" lvl="1">
              <a:lnSpc>
                <a:spcPts val="3305"/>
              </a:lnSpc>
              <a:buFont typeface="Arial"/>
              <a:buChar char="•"/>
            </a:pPr>
            <a:r>
              <a:rPr lang="en-US" b="true" sz="236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x₂, y₂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(Coordinates of point Q)</a:t>
            </a:r>
          </a:p>
          <a:p>
            <a:pPr algn="l">
              <a:lnSpc>
                <a:spcPts val="3305"/>
              </a:lnSpc>
            </a:pP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y² + 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a₁xy + a₃y = x³ + a₂x² + a₄x + a₆</a:t>
            </a:r>
          </a:p>
          <a:p>
            <a:pPr algn="l">
              <a:lnSpc>
                <a:spcPts val="3305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6357657" y="2713785"/>
            <a:ext cx="11459679" cy="5864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5"/>
              </a:lnSpc>
            </a:pPr>
            <a:r>
              <a:rPr lang="en-US" sz="236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Algorithm</a:t>
            </a:r>
          </a:p>
          <a:p>
            <a:pPr algn="ctr">
              <a:lnSpc>
                <a:spcPts val="3305"/>
              </a:lnSpc>
            </a:pPr>
          </a:p>
          <a:p>
            <a:pPr algn="l" marL="509719" indent="-254859" lvl="1">
              <a:lnSpc>
                <a:spcPts val="3305"/>
              </a:lnSpc>
              <a:buAutoNum type="arabicPeriod" startAt="1"/>
            </a:pP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ead finite field</a:t>
            </a:r>
            <a:r>
              <a:rPr lang="en-US" sz="2360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arameters p and n.</a:t>
            </a:r>
          </a:p>
          <a:p>
            <a:pPr algn="l" marL="509719" indent="-254859" lvl="1">
              <a:lnSpc>
                <a:spcPts val="3305"/>
              </a:lnSpc>
              <a:buAutoNum type="arabicPeriod" startAt="1"/>
            </a:pPr>
            <a:r>
              <a:rPr lang="en-US" b="true" sz="236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Construct</a:t>
            </a:r>
            <a:r>
              <a:rPr lang="en-US" b="true" sz="2360" u="non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sz="2360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finite field </a:t>
            </a:r>
            <a:r>
              <a:rPr lang="en-US" b="true" sz="2360" u="non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GF(pⁿ)</a:t>
            </a:r>
            <a:r>
              <a:rPr lang="en-US" sz="2360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algn="l" marL="509719" indent="-254859" lvl="1">
              <a:lnSpc>
                <a:spcPts val="3305"/>
              </a:lnSpc>
              <a:buAutoNum type="arabicPeriod" startAt="1"/>
            </a:pPr>
            <a:r>
              <a:rPr lang="en-US" b="true" sz="2360" u="non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Read </a:t>
            </a:r>
            <a:r>
              <a:rPr lang="en-US" sz="2360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urve </a:t>
            </a:r>
            <a:r>
              <a:rPr lang="en-US" b="true" sz="236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coefficients 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a₁, a₂, a₃, a₄, and a₆.</a:t>
            </a:r>
          </a:p>
          <a:p>
            <a:pPr algn="l" marL="509719" indent="-254859" lvl="1">
              <a:lnSpc>
                <a:spcPts val="3305"/>
              </a:lnSpc>
              <a:buAutoNum type="arabicPeriod" startAt="1"/>
            </a:pPr>
            <a:r>
              <a:rPr lang="en-US" b="true" sz="236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Create 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elliptic </a:t>
            </a:r>
            <a:r>
              <a:rPr lang="en-US" b="true" sz="236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curve E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using the general Weierstrass equation.</a:t>
            </a:r>
          </a:p>
          <a:p>
            <a:pPr algn="l" marL="509719" indent="-254859" lvl="1">
              <a:lnSpc>
                <a:spcPts val="3305"/>
              </a:lnSpc>
              <a:buAutoNum type="arabicPeriod" startAt="1"/>
            </a:pPr>
            <a:r>
              <a:rPr lang="en-US" b="true" sz="236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Construct 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point </a:t>
            </a:r>
            <a:r>
              <a:rPr lang="en-US" b="true" sz="236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 = (x₁, y₁)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algn="l" marL="509719" indent="-254859" lvl="1">
              <a:lnSpc>
                <a:spcPts val="3305"/>
              </a:lnSpc>
              <a:buAutoNum type="arabicPeriod" startAt="1"/>
            </a:pPr>
            <a:r>
              <a:rPr lang="en-US" b="true" sz="236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Construct 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point </a:t>
            </a:r>
            <a:r>
              <a:rPr lang="en-US" b="true" sz="236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Q = (x₂, y₂)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algn="l" marL="509719" indent="-254859" lvl="1">
              <a:lnSpc>
                <a:spcPts val="3305"/>
              </a:lnSpc>
              <a:buAutoNum type="arabicPeriod" startAt="1"/>
            </a:pPr>
            <a:r>
              <a:rPr lang="en-US" b="true" sz="236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Verify that both points belong to E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algn="l" marL="509719" indent="-254859" lvl="1">
              <a:lnSpc>
                <a:spcPts val="3305"/>
              </a:lnSpc>
              <a:buAutoNum type="arabicPeriod" startAt="1"/>
            </a:pPr>
            <a:r>
              <a:rPr lang="en-US" b="true" sz="236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Invoke SageMath 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elliptic curve </a:t>
            </a:r>
            <a:r>
              <a:rPr lang="en-US" b="true" sz="236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addition operation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algn="l" marL="509719" indent="-254859" lvl="1">
              <a:lnSpc>
                <a:spcPts val="3305"/>
              </a:lnSpc>
              <a:buAutoNum type="arabicPeriod" startAt="1"/>
            </a:pP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Compute: R = P + Q</a:t>
            </a:r>
          </a:p>
          <a:p>
            <a:pPr algn="l" marL="509719" indent="-254859" lvl="1">
              <a:lnSpc>
                <a:spcPts val="3305"/>
              </a:lnSpc>
              <a:buAutoNum type="arabicPeriod" startAt="1"/>
            </a:pP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Convert result into printable format.</a:t>
            </a:r>
          </a:p>
          <a:p>
            <a:pPr algn="l" marL="509719" indent="-254859" lvl="1">
              <a:lnSpc>
                <a:spcPts val="3305"/>
              </a:lnSpc>
              <a:buAutoNum type="arabicPeriod" startAt="1"/>
            </a:pP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Return point R.</a:t>
            </a:r>
          </a:p>
          <a:p>
            <a:pPr algn="l">
              <a:lnSpc>
                <a:spcPts val="3305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979729" y="1162050"/>
            <a:ext cx="15004538" cy="96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Algorithm for Point Add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22" r="0" b="-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392866" y="144068"/>
            <a:ext cx="7502269" cy="617932"/>
            <a:chOff x="0" y="0"/>
            <a:chExt cx="1975906" cy="16274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75906" cy="162747"/>
            </a:xfrm>
            <a:custGeom>
              <a:avLst/>
              <a:gdLst/>
              <a:ahLst/>
              <a:cxnLst/>
              <a:rect r="r" b="b" t="t" l="l"/>
              <a:pathLst>
                <a:path h="162747" w="1975906">
                  <a:moveTo>
                    <a:pt x="0" y="0"/>
                  </a:moveTo>
                  <a:lnTo>
                    <a:pt x="1975906" y="0"/>
                  </a:lnTo>
                  <a:lnTo>
                    <a:pt x="1975906" y="162747"/>
                  </a:lnTo>
                  <a:lnTo>
                    <a:pt x="0" y="162747"/>
                  </a:lnTo>
                  <a:close/>
                </a:path>
              </a:pathLst>
            </a:custGeom>
            <a:solidFill>
              <a:srgbClr val="ECE5DB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975906" cy="2103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  <a:r>
                <a:rPr lang="en-US" b="true" sz="2100" u="sng">
                  <a:solidFill>
                    <a:srgbClr val="22359F"/>
                  </a:solidFill>
                  <a:latin typeface="Inter Medium"/>
                  <a:ea typeface="Inter Medium"/>
                  <a:cs typeface="Inter Medium"/>
                  <a:sym typeface="Inter Medium"/>
                  <a:hlinkClick r:id="rId3" tooltip="https://be-projects-2026.onrender.com/tools/ECA_Tools/"/>
                </a:rPr>
                <a:t>https://be-projects-2026.onrender.com/tools/ECA_Tools/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340201" y="3055127"/>
            <a:ext cx="7325491" cy="6107628"/>
          </a:xfrm>
          <a:custGeom>
            <a:avLst/>
            <a:gdLst/>
            <a:ahLst/>
            <a:cxnLst/>
            <a:rect r="r" b="b" t="t" l="l"/>
            <a:pathLst>
              <a:path h="6107628" w="7325491">
                <a:moveTo>
                  <a:pt x="0" y="0"/>
                </a:moveTo>
                <a:lnTo>
                  <a:pt x="7325491" y="0"/>
                </a:lnTo>
                <a:lnTo>
                  <a:pt x="7325491" y="6107628"/>
                </a:lnTo>
                <a:lnTo>
                  <a:pt x="0" y="61076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979030" y="3791199"/>
            <a:ext cx="9832210" cy="3660057"/>
          </a:xfrm>
          <a:custGeom>
            <a:avLst/>
            <a:gdLst/>
            <a:ahLst/>
            <a:cxnLst/>
            <a:rect r="r" b="b" t="t" l="l"/>
            <a:pathLst>
              <a:path h="3660057" w="9832210">
                <a:moveTo>
                  <a:pt x="0" y="0"/>
                </a:moveTo>
                <a:lnTo>
                  <a:pt x="9832209" y="0"/>
                </a:lnTo>
                <a:lnTo>
                  <a:pt x="9832209" y="3660057"/>
                </a:lnTo>
                <a:lnTo>
                  <a:pt x="0" y="366005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37636" b="-2602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1162050"/>
            <a:ext cx="15004538" cy="96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Web Application &amp; Results 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22" r="0" b="-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42413" y="8010116"/>
            <a:ext cx="5380585" cy="987352"/>
            <a:chOff x="0" y="0"/>
            <a:chExt cx="1417109" cy="26004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17109" cy="260043"/>
            </a:xfrm>
            <a:custGeom>
              <a:avLst/>
              <a:gdLst/>
              <a:ahLst/>
              <a:cxnLst/>
              <a:rect r="r" b="b" t="t" l="l"/>
              <a:pathLst>
                <a:path h="260043" w="1417109">
                  <a:moveTo>
                    <a:pt x="0" y="0"/>
                  </a:moveTo>
                  <a:lnTo>
                    <a:pt x="1417109" y="0"/>
                  </a:lnTo>
                  <a:lnTo>
                    <a:pt x="1417109" y="260043"/>
                  </a:lnTo>
                  <a:lnTo>
                    <a:pt x="0" y="260043"/>
                  </a:lnTo>
                  <a:close/>
                </a:path>
              </a:pathLst>
            </a:custGeom>
            <a:solidFill>
              <a:srgbClr val="ECE5DB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417109" cy="3076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084277" y="2886586"/>
            <a:ext cx="11869328" cy="5919884"/>
            <a:chOff x="0" y="0"/>
            <a:chExt cx="3126078" cy="155914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126078" cy="1559146"/>
            </a:xfrm>
            <a:custGeom>
              <a:avLst/>
              <a:gdLst/>
              <a:ahLst/>
              <a:cxnLst/>
              <a:rect r="r" b="b" t="t" l="l"/>
              <a:pathLst>
                <a:path h="1559146" w="3126078">
                  <a:moveTo>
                    <a:pt x="0" y="0"/>
                  </a:moveTo>
                  <a:lnTo>
                    <a:pt x="3126078" y="0"/>
                  </a:lnTo>
                  <a:lnTo>
                    <a:pt x="3126078" y="1559146"/>
                  </a:lnTo>
                  <a:lnTo>
                    <a:pt x="0" y="1559146"/>
                  </a:lnTo>
                  <a:close/>
                </a:path>
              </a:pathLst>
            </a:custGeom>
            <a:solidFill>
              <a:srgbClr val="ECE5DB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3126078" cy="16067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542413" y="2599996"/>
            <a:ext cx="5429350" cy="7121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5"/>
              </a:lnSpc>
            </a:pPr>
            <a:r>
              <a:rPr lang="en-US" sz="236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Input Paramet</a:t>
            </a:r>
            <a:r>
              <a:rPr lang="en-US" sz="236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ers:</a:t>
            </a:r>
          </a:p>
          <a:p>
            <a:pPr algn="l">
              <a:lnSpc>
                <a:spcPts val="3305"/>
              </a:lnSpc>
            </a:pP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The script takes seven input parameters via command-line arguments:</a:t>
            </a:r>
          </a:p>
          <a:p>
            <a:pPr algn="l" marL="509719" indent="-254859" lvl="1">
              <a:lnSpc>
                <a:spcPts val="3305"/>
              </a:lnSpc>
              <a:buFont typeface="Arial"/>
              <a:buChar char="•"/>
            </a:pPr>
            <a:r>
              <a:rPr lang="en-US" b="true" sz="236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Base_Field: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A prime number representing the characteristic of the field</a:t>
            </a:r>
          </a:p>
          <a:p>
            <a:pPr algn="l" marL="509719" indent="-254859" lvl="1">
              <a:lnSpc>
                <a:spcPts val="3305"/>
              </a:lnSpc>
              <a:buFont typeface="Arial"/>
              <a:buChar char="•"/>
            </a:pPr>
            <a:r>
              <a:rPr lang="en-US" b="true" sz="236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Degree: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The degree 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of the extension field</a:t>
            </a:r>
          </a:p>
          <a:p>
            <a:pPr algn="l" marL="509719" indent="-254859" lvl="1">
              <a:lnSpc>
                <a:spcPts val="3305"/>
              </a:lnSpc>
              <a:buFont typeface="Arial"/>
              <a:buChar char="•"/>
            </a:pPr>
            <a:r>
              <a:rPr lang="en-US" b="true" sz="236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Coeff_a₁, Coeff_a₂, Coeff_a₃, Coeff_a₄, Coeff_a₆: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The five coefficients of the General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Weierstrass equation</a:t>
            </a:r>
          </a:p>
          <a:p>
            <a:pPr algn="l" marL="509719" indent="-254859" lvl="1">
              <a:lnSpc>
                <a:spcPts val="3305"/>
              </a:lnSpc>
              <a:buFont typeface="Arial"/>
              <a:buChar char="•"/>
            </a:pPr>
            <a:r>
              <a:rPr lang="en-US" b="true" sz="236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x₁, y₁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(Coordinates of point P)</a:t>
            </a:r>
          </a:p>
          <a:p>
            <a:pPr algn="l" marL="509719" indent="-254859" lvl="1">
              <a:lnSpc>
                <a:spcPts val="3305"/>
              </a:lnSpc>
              <a:buFont typeface="Arial"/>
              <a:buChar char="•"/>
            </a:pPr>
            <a:r>
              <a:rPr lang="en-US" b="true" sz="236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x₂, y₂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(Coordinates of point Q)</a:t>
            </a:r>
          </a:p>
          <a:p>
            <a:pPr algn="l">
              <a:lnSpc>
                <a:spcPts val="3305"/>
              </a:lnSpc>
            </a:pP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y² + 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a₁xy + a₃y = x³ + a₂x² + a₄x + a₆</a:t>
            </a:r>
          </a:p>
          <a:p>
            <a:pPr algn="l">
              <a:lnSpc>
                <a:spcPts val="3305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6289102" y="2941887"/>
            <a:ext cx="11459679" cy="5445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5"/>
              </a:lnSpc>
            </a:pPr>
            <a:r>
              <a:rPr lang="en-US" sz="236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Algorithm</a:t>
            </a:r>
          </a:p>
          <a:p>
            <a:pPr algn="ctr">
              <a:lnSpc>
                <a:spcPts val="3305"/>
              </a:lnSpc>
            </a:pPr>
          </a:p>
          <a:p>
            <a:pPr algn="l" marL="509719" indent="-254859" lvl="1">
              <a:lnSpc>
                <a:spcPts val="3305"/>
              </a:lnSpc>
              <a:buAutoNum type="arabicPeriod" startAt="1"/>
            </a:pP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ead finite field</a:t>
            </a:r>
            <a:r>
              <a:rPr lang="en-US" sz="2360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arameters.</a:t>
            </a:r>
          </a:p>
          <a:p>
            <a:pPr algn="l" marL="509719" indent="-254859" lvl="1">
              <a:lnSpc>
                <a:spcPts val="3305"/>
              </a:lnSpc>
              <a:buAutoNum type="arabicPeriod" startAt="1"/>
            </a:pP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Construct</a:t>
            </a:r>
            <a:r>
              <a:rPr lang="en-US" sz="2360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GF(pⁿ).</a:t>
            </a:r>
          </a:p>
          <a:p>
            <a:pPr algn="l" marL="509719" indent="-254859" lvl="1">
              <a:lnSpc>
                <a:spcPts val="3305"/>
              </a:lnSpc>
              <a:buAutoNum type="arabicPeriod" startAt="1"/>
            </a:pP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Create elliptic curve E from supplied coefficients.</a:t>
            </a:r>
          </a:p>
          <a:p>
            <a:pPr algn="l" marL="509719" indent="-254859" lvl="1">
              <a:lnSpc>
                <a:spcPts val="3305"/>
              </a:lnSpc>
              <a:buAutoNum type="arabicPeriod" startAt="1"/>
            </a:pP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Construct points P and Q.</a:t>
            </a:r>
          </a:p>
          <a:p>
            <a:pPr algn="l" marL="509719" indent="-254859" lvl="1">
              <a:lnSpc>
                <a:spcPts val="3305"/>
              </a:lnSpc>
              <a:buAutoNum type="arabicPeriod" startAt="1"/>
            </a:pPr>
            <a:r>
              <a:rPr lang="en-US" b="true" sz="236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Verify point validity on E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algn="l" marL="509719" indent="-254859" lvl="1">
              <a:lnSpc>
                <a:spcPts val="3305"/>
              </a:lnSpc>
              <a:buAutoNum type="arabicPeriod" startAt="1"/>
            </a:pP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Determine additive inverse of Q.</a:t>
            </a:r>
          </a:p>
          <a:p>
            <a:pPr algn="l" marL="509719" indent="-254859" lvl="1">
              <a:lnSpc>
                <a:spcPts val="3305"/>
              </a:lnSpc>
              <a:buAutoNum type="arabicPeriod" startAt="1"/>
            </a:pPr>
            <a:r>
              <a:rPr lang="en-US" b="true" sz="236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Perform elliptic curve addition: P − Q = P + (−Q)</a:t>
            </a:r>
          </a:p>
          <a:p>
            <a:pPr algn="l" marL="509719" indent="-254859" lvl="1">
              <a:lnSpc>
                <a:spcPts val="3305"/>
              </a:lnSpc>
              <a:buAutoNum type="arabicPeriod" startAt="1"/>
            </a:pP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Compute result using SageMath group operations.</a:t>
            </a:r>
          </a:p>
          <a:p>
            <a:pPr algn="l" marL="509719" indent="-254859" lvl="1">
              <a:lnSpc>
                <a:spcPts val="3305"/>
              </a:lnSpc>
              <a:buAutoNum type="arabicPeriod" startAt="1"/>
            </a:pP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Format output.</a:t>
            </a:r>
          </a:p>
          <a:p>
            <a:pPr algn="l" marL="509719" indent="-254859" lvl="1">
              <a:lnSpc>
                <a:spcPts val="3305"/>
              </a:lnSpc>
              <a:buAutoNum type="arabicPeriod" startAt="1"/>
            </a:pP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Return resulting point.</a:t>
            </a:r>
          </a:p>
          <a:p>
            <a:pPr algn="l">
              <a:lnSpc>
                <a:spcPts val="3305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979729" y="1162050"/>
            <a:ext cx="15004538" cy="96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Algorithm for Point Subtract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22" r="0" b="-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392866" y="144068"/>
            <a:ext cx="7502269" cy="617932"/>
            <a:chOff x="0" y="0"/>
            <a:chExt cx="1975906" cy="16274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75906" cy="162747"/>
            </a:xfrm>
            <a:custGeom>
              <a:avLst/>
              <a:gdLst/>
              <a:ahLst/>
              <a:cxnLst/>
              <a:rect r="r" b="b" t="t" l="l"/>
              <a:pathLst>
                <a:path h="162747" w="1975906">
                  <a:moveTo>
                    <a:pt x="0" y="0"/>
                  </a:moveTo>
                  <a:lnTo>
                    <a:pt x="1975906" y="0"/>
                  </a:lnTo>
                  <a:lnTo>
                    <a:pt x="1975906" y="162747"/>
                  </a:lnTo>
                  <a:lnTo>
                    <a:pt x="0" y="162747"/>
                  </a:lnTo>
                  <a:close/>
                </a:path>
              </a:pathLst>
            </a:custGeom>
            <a:solidFill>
              <a:srgbClr val="ECE5DB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975906" cy="2103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  <a:r>
                <a:rPr lang="en-US" b="true" sz="2100" u="sng">
                  <a:solidFill>
                    <a:srgbClr val="22359F"/>
                  </a:solidFill>
                  <a:latin typeface="Inter Medium"/>
                  <a:ea typeface="Inter Medium"/>
                  <a:cs typeface="Inter Medium"/>
                  <a:sym typeface="Inter Medium"/>
                  <a:hlinkClick r:id="rId3" tooltip="https://be-projects-2026.onrender.com/tools/ECA_Tools/"/>
                </a:rPr>
                <a:t>https://be-projects-2026.onrender.com/tools/ECA_Tools/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4663937" y="2508162"/>
            <a:ext cx="8750141" cy="3236980"/>
          </a:xfrm>
          <a:custGeom>
            <a:avLst/>
            <a:gdLst/>
            <a:ahLst/>
            <a:cxnLst/>
            <a:rect r="r" b="b" t="t" l="l"/>
            <a:pathLst>
              <a:path h="3236980" w="8750141">
                <a:moveTo>
                  <a:pt x="0" y="0"/>
                </a:moveTo>
                <a:lnTo>
                  <a:pt x="8750141" y="0"/>
                </a:lnTo>
                <a:lnTo>
                  <a:pt x="8750141" y="3236980"/>
                </a:lnTo>
                <a:lnTo>
                  <a:pt x="0" y="32369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437776" y="6313242"/>
            <a:ext cx="11202463" cy="3234001"/>
          </a:xfrm>
          <a:custGeom>
            <a:avLst/>
            <a:gdLst/>
            <a:ahLst/>
            <a:cxnLst/>
            <a:rect r="r" b="b" t="t" l="l"/>
            <a:pathLst>
              <a:path h="3234001" w="11202463">
                <a:moveTo>
                  <a:pt x="0" y="0"/>
                </a:moveTo>
                <a:lnTo>
                  <a:pt x="11202463" y="0"/>
                </a:lnTo>
                <a:lnTo>
                  <a:pt x="11202463" y="3234001"/>
                </a:lnTo>
                <a:lnTo>
                  <a:pt x="0" y="323400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1162050"/>
            <a:ext cx="15004538" cy="96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Web Application &amp; Results 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22" r="0" b="-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42413" y="8010116"/>
            <a:ext cx="5380585" cy="987352"/>
            <a:chOff x="0" y="0"/>
            <a:chExt cx="1417109" cy="26004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17109" cy="260043"/>
            </a:xfrm>
            <a:custGeom>
              <a:avLst/>
              <a:gdLst/>
              <a:ahLst/>
              <a:cxnLst/>
              <a:rect r="r" b="b" t="t" l="l"/>
              <a:pathLst>
                <a:path h="260043" w="1417109">
                  <a:moveTo>
                    <a:pt x="0" y="0"/>
                  </a:moveTo>
                  <a:lnTo>
                    <a:pt x="1417109" y="0"/>
                  </a:lnTo>
                  <a:lnTo>
                    <a:pt x="1417109" y="260043"/>
                  </a:lnTo>
                  <a:lnTo>
                    <a:pt x="0" y="260043"/>
                  </a:lnTo>
                  <a:close/>
                </a:path>
              </a:pathLst>
            </a:custGeom>
            <a:solidFill>
              <a:srgbClr val="ECE5DB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417109" cy="3076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084277" y="2886586"/>
            <a:ext cx="11869328" cy="5919884"/>
            <a:chOff x="0" y="0"/>
            <a:chExt cx="3126078" cy="155914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126078" cy="1559146"/>
            </a:xfrm>
            <a:custGeom>
              <a:avLst/>
              <a:gdLst/>
              <a:ahLst/>
              <a:cxnLst/>
              <a:rect r="r" b="b" t="t" l="l"/>
              <a:pathLst>
                <a:path h="1559146" w="3126078">
                  <a:moveTo>
                    <a:pt x="0" y="0"/>
                  </a:moveTo>
                  <a:lnTo>
                    <a:pt x="3126078" y="0"/>
                  </a:lnTo>
                  <a:lnTo>
                    <a:pt x="3126078" y="1559146"/>
                  </a:lnTo>
                  <a:lnTo>
                    <a:pt x="0" y="1559146"/>
                  </a:lnTo>
                  <a:close/>
                </a:path>
              </a:pathLst>
            </a:custGeom>
            <a:solidFill>
              <a:srgbClr val="ECE5DB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3126078" cy="16067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542413" y="2599996"/>
            <a:ext cx="5429350" cy="7121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5"/>
              </a:lnSpc>
            </a:pPr>
            <a:r>
              <a:rPr lang="en-US" sz="236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Input Paramet</a:t>
            </a:r>
            <a:r>
              <a:rPr lang="en-US" sz="236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ers:</a:t>
            </a:r>
          </a:p>
          <a:p>
            <a:pPr algn="l">
              <a:lnSpc>
                <a:spcPts val="3305"/>
              </a:lnSpc>
            </a:pP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The script takes seven input parameters via command-line arguments:</a:t>
            </a:r>
          </a:p>
          <a:p>
            <a:pPr algn="l" marL="509719" indent="-254859" lvl="1">
              <a:lnSpc>
                <a:spcPts val="3305"/>
              </a:lnSpc>
              <a:buFont typeface="Arial"/>
              <a:buChar char="•"/>
            </a:pPr>
            <a:r>
              <a:rPr lang="en-US" b="true" sz="236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Base_Field: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A prime number representing the characteristic of the field</a:t>
            </a:r>
          </a:p>
          <a:p>
            <a:pPr algn="l" marL="509719" indent="-254859" lvl="1">
              <a:lnSpc>
                <a:spcPts val="3305"/>
              </a:lnSpc>
              <a:buFont typeface="Arial"/>
              <a:buChar char="•"/>
            </a:pPr>
            <a:r>
              <a:rPr lang="en-US" b="true" sz="236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Degree: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The degree 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of the extension field</a:t>
            </a:r>
          </a:p>
          <a:p>
            <a:pPr algn="l" marL="509719" indent="-254859" lvl="1">
              <a:lnSpc>
                <a:spcPts val="3305"/>
              </a:lnSpc>
              <a:buFont typeface="Arial"/>
              <a:buChar char="•"/>
            </a:pPr>
            <a:r>
              <a:rPr lang="en-US" b="true" sz="236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Coeff_a₁, Coeff_a₂, Coeff_a₃, Coeff_a₄, Coeff_a₆: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The five coefficients of the General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Weierstrass equation</a:t>
            </a:r>
          </a:p>
          <a:p>
            <a:pPr algn="l" marL="509719" indent="-254859" lvl="1">
              <a:lnSpc>
                <a:spcPts val="3305"/>
              </a:lnSpc>
              <a:buFont typeface="Arial"/>
              <a:buChar char="•"/>
            </a:pPr>
            <a:r>
              <a:rPr lang="en-US" b="true" sz="236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x₁, y₁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(Coordinates of point P)</a:t>
            </a:r>
          </a:p>
          <a:p>
            <a:pPr algn="l" marL="509719" indent="-254859" lvl="1">
              <a:lnSpc>
                <a:spcPts val="3305"/>
              </a:lnSpc>
              <a:buFont typeface="Arial"/>
              <a:buChar char="•"/>
            </a:pPr>
            <a:r>
              <a:rPr lang="en-US" b="true" sz="236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k 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(Scalar multiplier)</a:t>
            </a:r>
          </a:p>
          <a:p>
            <a:pPr algn="l">
              <a:lnSpc>
                <a:spcPts val="3305"/>
              </a:lnSpc>
            </a:pP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y² + 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a₁xy + a₃y = x³ + a₂x² + a₄x + a₆</a:t>
            </a:r>
          </a:p>
          <a:p>
            <a:pPr algn="l">
              <a:lnSpc>
                <a:spcPts val="3305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6289102" y="2941887"/>
            <a:ext cx="11459679" cy="5445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5"/>
              </a:lnSpc>
            </a:pPr>
            <a:r>
              <a:rPr lang="en-US" sz="236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Algorithm</a:t>
            </a:r>
          </a:p>
          <a:p>
            <a:pPr algn="ctr">
              <a:lnSpc>
                <a:spcPts val="3305"/>
              </a:lnSpc>
            </a:pPr>
          </a:p>
          <a:p>
            <a:pPr algn="l" marL="509719" indent="-254859" lvl="1">
              <a:lnSpc>
                <a:spcPts val="3305"/>
              </a:lnSpc>
              <a:buAutoNum type="arabicPeriod" startAt="1"/>
            </a:pP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ead finite field</a:t>
            </a:r>
            <a:r>
              <a:rPr lang="en-US" sz="2360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arameters.</a:t>
            </a:r>
          </a:p>
          <a:p>
            <a:pPr algn="l" marL="509719" indent="-254859" lvl="1">
              <a:lnSpc>
                <a:spcPts val="3305"/>
              </a:lnSpc>
              <a:buAutoNum type="arabicPeriod" startAt="1"/>
            </a:pP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Construct</a:t>
            </a:r>
            <a:r>
              <a:rPr lang="en-US" sz="2360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finite field GF(pⁿ).</a:t>
            </a:r>
          </a:p>
          <a:p>
            <a:pPr algn="l" marL="509719" indent="-254859" lvl="1">
              <a:lnSpc>
                <a:spcPts val="3305"/>
              </a:lnSpc>
              <a:buAutoNum type="arabicPeriod" startAt="1"/>
            </a:pP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Create elliptic curve E.</a:t>
            </a:r>
          </a:p>
          <a:p>
            <a:pPr algn="l" marL="509719" indent="-254859" lvl="1">
              <a:lnSpc>
                <a:spcPts val="3305"/>
              </a:lnSpc>
              <a:buAutoNum type="arabicPeriod" startAt="1"/>
            </a:pP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Construct point P on E.</a:t>
            </a:r>
          </a:p>
          <a:p>
            <a:pPr algn="l" marL="509719" indent="-254859" lvl="1">
              <a:lnSpc>
                <a:spcPts val="3305"/>
              </a:lnSpc>
              <a:buAutoNum type="arabicPeriod" startAt="1"/>
            </a:pPr>
            <a:r>
              <a:rPr lang="en-US" b="true" sz="236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Read scalar value k.</a:t>
            </a:r>
          </a:p>
          <a:p>
            <a:pPr algn="l" marL="509719" indent="-254859" lvl="1">
              <a:lnSpc>
                <a:spcPts val="3305"/>
              </a:lnSpc>
              <a:buAutoNum type="arabicPeriod" startAt="1"/>
            </a:pPr>
            <a:r>
              <a:rPr lang="en-US" b="true" sz="236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Verify validity of P.</a:t>
            </a:r>
          </a:p>
          <a:p>
            <a:pPr algn="l" marL="509719" indent="-254859" lvl="1">
              <a:lnSpc>
                <a:spcPts val="3305"/>
              </a:lnSpc>
              <a:buAutoNum type="arabicPeriod" startAt="1"/>
            </a:pP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Invoke SageMath scalar multiplication operation.</a:t>
            </a:r>
          </a:p>
          <a:p>
            <a:pPr algn="l" marL="509719" indent="-254859" lvl="1">
              <a:lnSpc>
                <a:spcPts val="3305"/>
              </a:lnSpc>
              <a:buAutoNum type="arabicPeriod" startAt="1"/>
            </a:pPr>
            <a:r>
              <a:rPr lang="en-US" b="true" sz="236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Compute: R = k × P</a:t>
            </a:r>
          </a:p>
          <a:p>
            <a:pPr algn="l" marL="509719" indent="-254859" lvl="1">
              <a:lnSpc>
                <a:spcPts val="3305"/>
              </a:lnSpc>
              <a:buAutoNum type="arabicPeriod" startAt="1"/>
            </a:pP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Convert result into display format.</a:t>
            </a:r>
          </a:p>
          <a:p>
            <a:pPr algn="l" marL="509719" indent="-254859" lvl="1">
              <a:lnSpc>
                <a:spcPts val="3305"/>
              </a:lnSpc>
              <a:buAutoNum type="arabicPeriod" startAt="1"/>
            </a:pP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Return point R.</a:t>
            </a:r>
          </a:p>
          <a:p>
            <a:pPr algn="l">
              <a:lnSpc>
                <a:spcPts val="3305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979729" y="1162050"/>
            <a:ext cx="15004538" cy="96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Algorithm for Point Multiply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22" r="0" b="-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392866" y="144068"/>
            <a:ext cx="7502269" cy="617932"/>
            <a:chOff x="0" y="0"/>
            <a:chExt cx="1975906" cy="16274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75906" cy="162747"/>
            </a:xfrm>
            <a:custGeom>
              <a:avLst/>
              <a:gdLst/>
              <a:ahLst/>
              <a:cxnLst/>
              <a:rect r="r" b="b" t="t" l="l"/>
              <a:pathLst>
                <a:path h="162747" w="1975906">
                  <a:moveTo>
                    <a:pt x="0" y="0"/>
                  </a:moveTo>
                  <a:lnTo>
                    <a:pt x="1975906" y="0"/>
                  </a:lnTo>
                  <a:lnTo>
                    <a:pt x="1975906" y="162747"/>
                  </a:lnTo>
                  <a:lnTo>
                    <a:pt x="0" y="162747"/>
                  </a:lnTo>
                  <a:close/>
                </a:path>
              </a:pathLst>
            </a:custGeom>
            <a:solidFill>
              <a:srgbClr val="ECE5DB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975906" cy="2103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  <a:r>
                <a:rPr lang="en-US" b="true" sz="2100" u="sng">
                  <a:solidFill>
                    <a:srgbClr val="22359F"/>
                  </a:solidFill>
                  <a:latin typeface="Inter Medium"/>
                  <a:ea typeface="Inter Medium"/>
                  <a:cs typeface="Inter Medium"/>
                  <a:sym typeface="Inter Medium"/>
                  <a:hlinkClick r:id="rId3" tooltip="https://be-projects-2026.onrender.com/tools/ECA_Tools/"/>
                </a:rPr>
                <a:t>https://be-projects-2026.onrender.com/tools/ECA_Tools/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217951" y="3172611"/>
            <a:ext cx="7310248" cy="6085689"/>
          </a:xfrm>
          <a:custGeom>
            <a:avLst/>
            <a:gdLst/>
            <a:ahLst/>
            <a:cxnLst/>
            <a:rect r="r" b="b" t="t" l="l"/>
            <a:pathLst>
              <a:path h="6085689" w="7310248">
                <a:moveTo>
                  <a:pt x="0" y="0"/>
                </a:moveTo>
                <a:lnTo>
                  <a:pt x="7310248" y="0"/>
                </a:lnTo>
                <a:lnTo>
                  <a:pt x="7310248" y="6085689"/>
                </a:lnTo>
                <a:lnTo>
                  <a:pt x="0" y="60856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111402" y="4520267"/>
            <a:ext cx="8656828" cy="3390378"/>
          </a:xfrm>
          <a:custGeom>
            <a:avLst/>
            <a:gdLst/>
            <a:ahLst/>
            <a:cxnLst/>
            <a:rect r="r" b="b" t="t" l="l"/>
            <a:pathLst>
              <a:path h="3390378" w="8656828">
                <a:moveTo>
                  <a:pt x="0" y="0"/>
                </a:moveTo>
                <a:lnTo>
                  <a:pt x="8656828" y="0"/>
                </a:lnTo>
                <a:lnTo>
                  <a:pt x="8656828" y="3390377"/>
                </a:lnTo>
                <a:lnTo>
                  <a:pt x="0" y="33903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30547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1162050"/>
            <a:ext cx="15004538" cy="96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Web Application &amp; Results 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22" r="0" b="-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2584932"/>
            <a:ext cx="7805948" cy="3106711"/>
            <a:chOff x="0" y="0"/>
            <a:chExt cx="2055888" cy="81822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55888" cy="818228"/>
            </a:xfrm>
            <a:custGeom>
              <a:avLst/>
              <a:gdLst/>
              <a:ahLst/>
              <a:cxnLst/>
              <a:rect r="r" b="b" t="t" l="l"/>
              <a:pathLst>
                <a:path h="818228" w="2055888">
                  <a:moveTo>
                    <a:pt x="0" y="0"/>
                  </a:moveTo>
                  <a:lnTo>
                    <a:pt x="2055888" y="0"/>
                  </a:lnTo>
                  <a:lnTo>
                    <a:pt x="2055888" y="818228"/>
                  </a:lnTo>
                  <a:lnTo>
                    <a:pt x="0" y="818228"/>
                  </a:lnTo>
                  <a:close/>
                </a:path>
              </a:pathLst>
            </a:custGeom>
            <a:solidFill>
              <a:srgbClr val="ECE5DB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055888" cy="8658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261297" y="3179859"/>
            <a:ext cx="8035905" cy="2511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9719" indent="-254859" lvl="1">
              <a:lnSpc>
                <a:spcPts val="3305"/>
              </a:lnSpc>
              <a:buFont typeface="Arial"/>
              <a:buChar char="•"/>
            </a:pP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Flask web application</a:t>
            </a:r>
          </a:p>
          <a:p>
            <a:pPr algn="l" marL="509719" indent="-254859" lvl="1">
              <a:lnSpc>
                <a:spcPts val="3305"/>
              </a:lnSpc>
              <a:buFont typeface="Arial"/>
              <a:buChar char="•"/>
            </a:pP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SageMath backend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scripts (one per operation)</a:t>
            </a:r>
          </a:p>
          <a:p>
            <a:pPr algn="l" marL="509719" indent="-254859" lvl="1">
              <a:lnSpc>
                <a:spcPts val="3305"/>
              </a:lnSpc>
              <a:buFont typeface="Arial"/>
              <a:buChar char="•"/>
            </a:pP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HTML/CSS/JS templates ( Frontend )</a:t>
            </a:r>
          </a:p>
          <a:p>
            <a:pPr algn="l" marL="509719" indent="-254859" lvl="1">
              <a:lnSpc>
                <a:spcPts val="3305"/>
              </a:lnSpc>
              <a:buFont typeface="Arial"/>
              <a:buChar char="•"/>
            </a:pP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Docker configuration</a:t>
            </a:r>
          </a:p>
          <a:p>
            <a:pPr algn="l" marL="509719" indent="-254859" lvl="1">
              <a:lnSpc>
                <a:spcPts val="3305"/>
              </a:lnSpc>
              <a:buFont typeface="Arial"/>
              <a:buChar char="•"/>
            </a:pP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Gunicorn WSGI server</a:t>
            </a:r>
          </a:p>
          <a:p>
            <a:pPr algn="l">
              <a:lnSpc>
                <a:spcPts val="3305"/>
              </a:lnSpc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9297202" y="2584932"/>
            <a:ext cx="7551160" cy="3106711"/>
            <a:chOff x="0" y="0"/>
            <a:chExt cx="1988783" cy="81822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88783" cy="818228"/>
            </a:xfrm>
            <a:custGeom>
              <a:avLst/>
              <a:gdLst/>
              <a:ahLst/>
              <a:cxnLst/>
              <a:rect r="r" b="b" t="t" l="l"/>
              <a:pathLst>
                <a:path h="818228" w="1988783">
                  <a:moveTo>
                    <a:pt x="0" y="0"/>
                  </a:moveTo>
                  <a:lnTo>
                    <a:pt x="1988783" y="0"/>
                  </a:lnTo>
                  <a:lnTo>
                    <a:pt x="1988783" y="818228"/>
                  </a:lnTo>
                  <a:lnTo>
                    <a:pt x="0" y="818228"/>
                  </a:lnTo>
                  <a:close/>
                </a:path>
              </a:pathLst>
            </a:custGeom>
            <a:solidFill>
              <a:srgbClr val="ECE5DB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988783" cy="8658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028700" y="7084976"/>
            <a:ext cx="1313752" cy="1313752"/>
          </a:xfrm>
          <a:custGeom>
            <a:avLst/>
            <a:gdLst/>
            <a:ahLst/>
            <a:cxnLst/>
            <a:rect r="r" b="b" t="t" l="l"/>
            <a:pathLst>
              <a:path h="1313752" w="1313752">
                <a:moveTo>
                  <a:pt x="0" y="0"/>
                </a:moveTo>
                <a:lnTo>
                  <a:pt x="1313752" y="0"/>
                </a:lnTo>
                <a:lnTo>
                  <a:pt x="1313752" y="1313752"/>
                </a:lnTo>
                <a:lnTo>
                  <a:pt x="0" y="13137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677450" y="7084976"/>
            <a:ext cx="1021442" cy="1313752"/>
          </a:xfrm>
          <a:custGeom>
            <a:avLst/>
            <a:gdLst/>
            <a:ahLst/>
            <a:cxnLst/>
            <a:rect r="r" b="b" t="t" l="l"/>
            <a:pathLst>
              <a:path h="1313752" w="1021442">
                <a:moveTo>
                  <a:pt x="0" y="0"/>
                </a:moveTo>
                <a:lnTo>
                  <a:pt x="1021443" y="0"/>
                </a:lnTo>
                <a:lnTo>
                  <a:pt x="1021443" y="1313752"/>
                </a:lnTo>
                <a:lnTo>
                  <a:pt x="0" y="13137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3803957" y="7084976"/>
            <a:ext cx="2714906" cy="1357453"/>
          </a:xfrm>
          <a:custGeom>
            <a:avLst/>
            <a:gdLst/>
            <a:ahLst/>
            <a:cxnLst/>
            <a:rect r="r" b="b" t="t" l="l"/>
            <a:pathLst>
              <a:path h="1357453" w="2714906">
                <a:moveTo>
                  <a:pt x="0" y="0"/>
                </a:moveTo>
                <a:lnTo>
                  <a:pt x="2714906" y="0"/>
                </a:lnTo>
                <a:lnTo>
                  <a:pt x="2714906" y="1357453"/>
                </a:lnTo>
                <a:lnTo>
                  <a:pt x="0" y="13574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6623638" y="7084976"/>
            <a:ext cx="2413250" cy="1357453"/>
          </a:xfrm>
          <a:custGeom>
            <a:avLst/>
            <a:gdLst/>
            <a:ahLst/>
            <a:cxnLst/>
            <a:rect r="r" b="b" t="t" l="l"/>
            <a:pathLst>
              <a:path h="1357453" w="2413250">
                <a:moveTo>
                  <a:pt x="0" y="0"/>
                </a:moveTo>
                <a:lnTo>
                  <a:pt x="2413250" y="0"/>
                </a:lnTo>
                <a:lnTo>
                  <a:pt x="2413250" y="1357453"/>
                </a:lnTo>
                <a:lnTo>
                  <a:pt x="0" y="135745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8834648" y="7084976"/>
            <a:ext cx="6009199" cy="1313752"/>
          </a:xfrm>
          <a:custGeom>
            <a:avLst/>
            <a:gdLst/>
            <a:ahLst/>
            <a:cxnLst/>
            <a:rect r="r" b="b" t="t" l="l"/>
            <a:pathLst>
              <a:path h="1313752" w="6009199">
                <a:moveTo>
                  <a:pt x="0" y="0"/>
                </a:moveTo>
                <a:lnTo>
                  <a:pt x="6009199" y="0"/>
                </a:lnTo>
                <a:lnTo>
                  <a:pt x="6009199" y="1313752"/>
                </a:lnTo>
                <a:lnTo>
                  <a:pt x="0" y="131375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5076669" y="6949622"/>
            <a:ext cx="1438035" cy="1438035"/>
          </a:xfrm>
          <a:custGeom>
            <a:avLst/>
            <a:gdLst/>
            <a:ahLst/>
            <a:cxnLst/>
            <a:rect r="r" b="b" t="t" l="l"/>
            <a:pathLst>
              <a:path h="1438035" w="1438035">
                <a:moveTo>
                  <a:pt x="0" y="0"/>
                </a:moveTo>
                <a:lnTo>
                  <a:pt x="1438035" y="0"/>
                </a:lnTo>
                <a:lnTo>
                  <a:pt x="1438035" y="1438035"/>
                </a:lnTo>
                <a:lnTo>
                  <a:pt x="0" y="143803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261297" y="2677126"/>
            <a:ext cx="1666207" cy="416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5"/>
              </a:lnSpc>
            </a:pPr>
            <a:r>
              <a:rPr lang="en-US" sz="236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ECA Tool :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70206" y="1162050"/>
            <a:ext cx="15004538" cy="96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System Architecture :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529799" y="2677126"/>
            <a:ext cx="4405177" cy="835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5"/>
              </a:lnSpc>
            </a:pPr>
            <a:r>
              <a:rPr lang="en-US" sz="236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Project Hosting :</a:t>
            </a:r>
          </a:p>
          <a:p>
            <a:pPr algn="l">
              <a:lnSpc>
                <a:spcPts val="3305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9529799" y="3179859"/>
            <a:ext cx="6984905" cy="2092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9719" indent="-254859" lvl="1">
              <a:lnSpc>
                <a:spcPts val="3305"/>
              </a:lnSpc>
              <a:buFont typeface="Arial"/>
              <a:buChar char="•"/>
            </a:pP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Homepage Flask app</a:t>
            </a:r>
          </a:p>
          <a:p>
            <a:pPr algn="l" marL="509719" indent="-254859" lvl="1">
              <a:lnSpc>
                <a:spcPts val="3305"/>
              </a:lnSpc>
              <a:buFont typeface="Arial"/>
              <a:buChar char="•"/>
            </a:pP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DispatcherMiddlew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are route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</a:t>
            </a:r>
          </a:p>
          <a:p>
            <a:pPr algn="l" marL="509719" indent="-254859" lvl="1">
              <a:lnSpc>
                <a:spcPts val="3305"/>
              </a:lnSpc>
              <a:buFont typeface="Arial"/>
              <a:buChar char="•"/>
            </a:pP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/tools/ECA_Tools mount point</a:t>
            </a:r>
          </a:p>
          <a:p>
            <a:pPr algn="l" marL="509719" indent="-254859" lvl="1">
              <a:lnSpc>
                <a:spcPts val="3305"/>
              </a:lnSpc>
              <a:buFont typeface="Arial"/>
              <a:buChar char="•"/>
            </a:pP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Sample template for future groups</a:t>
            </a:r>
          </a:p>
          <a:p>
            <a:pPr algn="l">
              <a:lnSpc>
                <a:spcPts val="3305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1028700" y="6205992"/>
            <a:ext cx="6549081" cy="421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2"/>
              </a:lnSpc>
            </a:pPr>
            <a:r>
              <a:rPr lang="en-US" sz="3142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Tech Stack : 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22" r="0" b="-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53652" y="3232622"/>
            <a:ext cx="15780695" cy="4828425"/>
          </a:xfrm>
          <a:custGeom>
            <a:avLst/>
            <a:gdLst/>
            <a:ahLst/>
            <a:cxnLst/>
            <a:rect r="r" b="b" t="t" l="l"/>
            <a:pathLst>
              <a:path h="4828425" w="15780695">
                <a:moveTo>
                  <a:pt x="0" y="0"/>
                </a:moveTo>
                <a:lnTo>
                  <a:pt x="15780696" y="0"/>
                </a:lnTo>
                <a:lnTo>
                  <a:pt x="15780696" y="4828425"/>
                </a:lnTo>
                <a:lnTo>
                  <a:pt x="0" y="48284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1852" r="0" b="-105897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70206" y="1162050"/>
            <a:ext cx="15004538" cy="96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System Architecture : 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22" r="0" b="-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926812"/>
            <a:ext cx="16230600" cy="2092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5"/>
              </a:lnSpc>
            </a:pP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The ECA Tools application follows a modular request-processing pipeline. </a:t>
            </a:r>
            <a:r>
              <a:rPr lang="en-US" b="true" sz="236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User inputs are collected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through a </a:t>
            </a:r>
            <a:r>
              <a:rPr lang="en-US" b="true" sz="236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Flask-based web interface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and </a:t>
            </a:r>
            <a:r>
              <a:rPr lang="en-US" b="true" sz="236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validated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before computation. Depending on the selected operation, the corresponding 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SageMath backend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script is executed as a managed subprocess. SageMath performs all finite field and elliptic curve calculations, ensuring mathematical correctness. The computed results are then formatted and returned to the browser in a user-friendly format.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70206" y="875414"/>
            <a:ext cx="15004538" cy="96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ECA Tools Workflow :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28700" y="4162370"/>
            <a:ext cx="9831025" cy="5919884"/>
            <a:chOff x="0" y="0"/>
            <a:chExt cx="2589241" cy="155914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89241" cy="1559146"/>
            </a:xfrm>
            <a:custGeom>
              <a:avLst/>
              <a:gdLst/>
              <a:ahLst/>
              <a:cxnLst/>
              <a:rect r="r" b="b" t="t" l="l"/>
              <a:pathLst>
                <a:path h="1559146" w="2589241">
                  <a:moveTo>
                    <a:pt x="0" y="0"/>
                  </a:moveTo>
                  <a:lnTo>
                    <a:pt x="2589241" y="0"/>
                  </a:lnTo>
                  <a:lnTo>
                    <a:pt x="2589241" y="1559146"/>
                  </a:lnTo>
                  <a:lnTo>
                    <a:pt x="0" y="1559146"/>
                  </a:lnTo>
                  <a:close/>
                </a:path>
              </a:pathLst>
            </a:custGeom>
            <a:solidFill>
              <a:srgbClr val="ECE5D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589241" cy="16067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70206" y="4258063"/>
            <a:ext cx="9685667" cy="6131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9"/>
              </a:lnSpc>
            </a:pPr>
            <a:r>
              <a:rPr lang="en-US" sz="2357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Processing Steps:</a:t>
            </a:r>
          </a:p>
          <a:p>
            <a:pPr algn="l" marL="508878" indent="-254439" lvl="1">
              <a:lnSpc>
                <a:spcPts val="3299"/>
              </a:lnSpc>
              <a:buAutoNum type="arabicPeriod" startAt="1"/>
            </a:pPr>
            <a:r>
              <a:rPr lang="en-US" sz="235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User </a:t>
            </a:r>
            <a:r>
              <a:rPr lang="en-US" sz="235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</a:t>
            </a:r>
            <a:r>
              <a:rPr lang="en-US" sz="235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nt</a:t>
            </a:r>
            <a:r>
              <a:rPr lang="en-US" sz="235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er</a:t>
            </a:r>
            <a:r>
              <a:rPr lang="en-US" sz="235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 ell</a:t>
            </a:r>
            <a:r>
              <a:rPr lang="en-US" sz="235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ip</a:t>
            </a:r>
            <a:r>
              <a:rPr lang="en-US" sz="235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</a:t>
            </a:r>
            <a:r>
              <a:rPr lang="en-US" sz="235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ic curve p</a:t>
            </a:r>
            <a:r>
              <a:rPr lang="en-US" sz="235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r>
              <a:rPr lang="en-US" sz="235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</a:t>
            </a:r>
            <a:r>
              <a:rPr lang="en-US" sz="235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r>
              <a:rPr lang="en-US" sz="235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</a:t>
            </a:r>
            <a:r>
              <a:rPr lang="en-US" sz="235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eter</a:t>
            </a:r>
            <a:r>
              <a:rPr lang="en-US" sz="235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 and se</a:t>
            </a:r>
            <a:r>
              <a:rPr lang="en-US" sz="235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</a:t>
            </a:r>
            <a:r>
              <a:rPr lang="en-US" sz="235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ec</a:t>
            </a:r>
            <a:r>
              <a:rPr lang="en-US" sz="235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</a:t>
            </a:r>
            <a:r>
              <a:rPr lang="en-US" sz="235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 an operation.</a:t>
            </a:r>
          </a:p>
          <a:p>
            <a:pPr algn="l" marL="508878" indent="-254439" lvl="1">
              <a:lnSpc>
                <a:spcPts val="3299"/>
              </a:lnSpc>
              <a:buAutoNum type="arabicPeriod" startAt="1"/>
            </a:pPr>
            <a:r>
              <a:rPr lang="en-US" sz="235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Flask route validates the input data.</a:t>
            </a:r>
          </a:p>
          <a:p>
            <a:pPr algn="l" marL="508878" indent="-254439" lvl="1">
              <a:lnSpc>
                <a:spcPts val="3299"/>
              </a:lnSpc>
              <a:buAutoNum type="arabicPeriod" startAt="1"/>
            </a:pPr>
            <a:r>
              <a:rPr lang="en-US" sz="235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Appropriate </a:t>
            </a:r>
            <a:r>
              <a:rPr lang="en-US" sz="235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SageMath </a:t>
            </a:r>
            <a:r>
              <a:rPr lang="en-US" sz="235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script is selected.</a:t>
            </a:r>
          </a:p>
          <a:p>
            <a:pPr algn="l" marL="508878" indent="-254439" lvl="1">
              <a:lnSpc>
                <a:spcPts val="3299"/>
              </a:lnSpc>
              <a:buAutoNum type="arabicPeriod" startAt="1"/>
            </a:pPr>
            <a:r>
              <a:rPr lang="en-US" sz="235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Finite field GF(p) or GF(pⁿ) is constructed.</a:t>
            </a:r>
          </a:p>
          <a:p>
            <a:pPr algn="l" marL="508878" indent="-254439" lvl="1">
              <a:lnSpc>
                <a:spcPts val="3299"/>
              </a:lnSpc>
              <a:buAutoNum type="arabicPeriod" startAt="1"/>
            </a:pPr>
            <a:r>
              <a:rPr lang="en-US" sz="235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Elliptic curve object is created.</a:t>
            </a:r>
          </a:p>
          <a:p>
            <a:pPr algn="l" marL="508878" indent="-254439" lvl="1">
              <a:lnSpc>
                <a:spcPts val="3299"/>
              </a:lnSpc>
              <a:buAutoNum type="arabicPeriod" startAt="1"/>
            </a:pPr>
            <a:r>
              <a:rPr lang="en-US" sz="235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Requested operation is performed:</a:t>
            </a:r>
          </a:p>
          <a:p>
            <a:pPr algn="l" marL="1017757" indent="-339252" lvl="2">
              <a:lnSpc>
                <a:spcPts val="3299"/>
              </a:lnSpc>
              <a:buFont typeface="Arial"/>
              <a:buChar char="⚬"/>
            </a:pPr>
            <a:r>
              <a:rPr lang="en-US" sz="235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Curve Order</a:t>
            </a:r>
          </a:p>
          <a:p>
            <a:pPr algn="l" marL="1017757" indent="-339252" lvl="2">
              <a:lnSpc>
                <a:spcPts val="3299"/>
              </a:lnSpc>
              <a:buFont typeface="Arial"/>
              <a:buChar char="⚬"/>
            </a:pPr>
            <a:r>
              <a:rPr lang="en-US" sz="235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Point Listing</a:t>
            </a:r>
          </a:p>
          <a:p>
            <a:pPr algn="l" marL="1017757" indent="-339252" lvl="2">
              <a:lnSpc>
                <a:spcPts val="3299"/>
              </a:lnSpc>
              <a:buFont typeface="Arial"/>
              <a:buChar char="⚬"/>
            </a:pPr>
            <a:r>
              <a:rPr lang="en-US" sz="235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Point Addition</a:t>
            </a:r>
          </a:p>
          <a:p>
            <a:pPr algn="l" marL="1017757" indent="-339252" lvl="2">
              <a:lnSpc>
                <a:spcPts val="3299"/>
              </a:lnSpc>
              <a:buFont typeface="Arial"/>
              <a:buChar char="⚬"/>
            </a:pPr>
            <a:r>
              <a:rPr lang="en-US" sz="235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Point Subtraction</a:t>
            </a:r>
          </a:p>
          <a:p>
            <a:pPr algn="l" marL="1017757" indent="-339252" lvl="2">
              <a:lnSpc>
                <a:spcPts val="3299"/>
              </a:lnSpc>
              <a:buFont typeface="Arial"/>
              <a:buChar char="⚬"/>
            </a:pPr>
            <a:r>
              <a:rPr lang="en-US" sz="235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Scalar Multiplication</a:t>
            </a:r>
          </a:p>
          <a:p>
            <a:pPr algn="l" marL="508878" indent="-254439" lvl="1">
              <a:lnSpc>
                <a:spcPts val="3299"/>
              </a:lnSpc>
              <a:buAutoNum type="arabicPeriod" startAt="1"/>
            </a:pPr>
            <a:r>
              <a:rPr lang="en-US" sz="235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Results are formatted for display.</a:t>
            </a:r>
          </a:p>
          <a:p>
            <a:pPr algn="l" marL="508878" indent="-254439" lvl="1">
              <a:lnSpc>
                <a:spcPts val="3299"/>
              </a:lnSpc>
              <a:buAutoNum type="arabicPeriod" startAt="1"/>
            </a:pPr>
            <a:r>
              <a:rPr lang="en-US" sz="235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Output is returned to the web interface.</a:t>
            </a:r>
          </a:p>
          <a:p>
            <a:pPr algn="l">
              <a:lnSpc>
                <a:spcPts val="3299"/>
              </a:lnSpc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11484086" y="4951740"/>
            <a:ext cx="6446314" cy="3667868"/>
            <a:chOff x="0" y="0"/>
            <a:chExt cx="2681995" cy="15260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681995" cy="1526020"/>
            </a:xfrm>
            <a:custGeom>
              <a:avLst/>
              <a:gdLst/>
              <a:ahLst/>
              <a:cxnLst/>
              <a:rect r="r" b="b" t="t" l="l"/>
              <a:pathLst>
                <a:path h="1526020" w="2681995">
                  <a:moveTo>
                    <a:pt x="0" y="0"/>
                  </a:moveTo>
                  <a:lnTo>
                    <a:pt x="2681995" y="0"/>
                  </a:lnTo>
                  <a:lnTo>
                    <a:pt x="2681995" y="1526020"/>
                  </a:lnTo>
                  <a:lnTo>
                    <a:pt x="0" y="1526020"/>
                  </a:lnTo>
                  <a:close/>
                </a:path>
              </a:pathLst>
            </a:custGeom>
            <a:solidFill>
              <a:srgbClr val="ECE5DB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2681995" cy="1573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1592028" y="4904115"/>
            <a:ext cx="6338373" cy="3989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Key Features:</a:t>
            </a:r>
          </a:p>
          <a:p>
            <a:pPr algn="l" marL="496571" indent="-248285" lvl="1">
              <a:lnSpc>
                <a:spcPts val="3220"/>
              </a:lnSpc>
              <a:buAutoNum type="arabicPeriod" startAt="1"/>
            </a:pPr>
            <a:r>
              <a:rPr lang="en-US" sz="2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Suppo</a:t>
            </a:r>
            <a:r>
              <a:rPr lang="en-US" sz="2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rts both</a:t>
            </a:r>
            <a:r>
              <a:rPr lang="en-US" sz="2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true" sz="23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GF(p)</a:t>
            </a:r>
            <a:r>
              <a:rPr lang="en-US" sz="2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and </a:t>
            </a:r>
            <a:r>
              <a:rPr lang="en-US" b="true" sz="23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GF(pⁿ)</a:t>
            </a:r>
            <a:r>
              <a:rPr lang="en-US" sz="2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algn="l" marL="496571" indent="-248285" lvl="1">
              <a:lnSpc>
                <a:spcPts val="3220"/>
              </a:lnSpc>
              <a:buAutoNum type="arabicPeriod" startAt="1"/>
            </a:pPr>
            <a:r>
              <a:rPr lang="en-US" b="true" sz="23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Uses SageMath</a:t>
            </a:r>
            <a:r>
              <a:rPr lang="en-US" sz="2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for exact mathematical computation.</a:t>
            </a:r>
          </a:p>
          <a:p>
            <a:pPr algn="l" marL="496571" indent="-248285" lvl="1">
              <a:lnSpc>
                <a:spcPts val="3220"/>
              </a:lnSpc>
              <a:buAutoNum type="arabicPeriod" startAt="1"/>
            </a:pPr>
            <a:r>
              <a:rPr lang="en-US" sz="2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Im</a:t>
            </a:r>
            <a:r>
              <a:rPr lang="en-US" sz="2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plements man</a:t>
            </a:r>
            <a:r>
              <a:rPr lang="en-US" sz="2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aged </a:t>
            </a:r>
            <a:r>
              <a:rPr lang="en-US" sz="2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subprocess execution.</a:t>
            </a:r>
          </a:p>
          <a:p>
            <a:pPr algn="l" marL="496571" indent="-248285" lvl="1">
              <a:lnSpc>
                <a:spcPts val="3220"/>
              </a:lnSpc>
              <a:buAutoNum type="arabicPeriod" startAt="1"/>
            </a:pPr>
            <a:r>
              <a:rPr lang="en-US" sz="2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</a:t>
            </a:r>
            <a:r>
              <a:rPr lang="en-US" sz="2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ncludes </a:t>
            </a:r>
            <a:r>
              <a:rPr lang="en-US" b="true" sz="23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120-second timeout</a:t>
            </a:r>
            <a:r>
              <a:rPr lang="en-US" sz="2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protection.</a:t>
            </a:r>
          </a:p>
          <a:p>
            <a:pPr algn="l" marL="496571" indent="-248285" lvl="1">
              <a:lnSpc>
                <a:spcPts val="3220"/>
              </a:lnSpc>
              <a:buAutoNum type="arabicPeriod" startAt="1"/>
            </a:pPr>
            <a:r>
              <a:rPr lang="en-US" sz="2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</a:t>
            </a:r>
            <a:r>
              <a:rPr lang="en-US" sz="2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upports optional curve and point visualization for d</a:t>
            </a:r>
            <a:r>
              <a:rPr lang="en-US" sz="2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egree-one fields.</a:t>
            </a:r>
          </a:p>
          <a:p>
            <a:pPr algn="l">
              <a:lnSpc>
                <a:spcPts val="3220"/>
              </a:lnSpc>
            </a:pP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22" r="0" b="-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46284" y="3646652"/>
            <a:ext cx="14995431" cy="4039434"/>
          </a:xfrm>
          <a:custGeom>
            <a:avLst/>
            <a:gdLst/>
            <a:ahLst/>
            <a:cxnLst/>
            <a:rect r="r" b="b" t="t" l="l"/>
            <a:pathLst>
              <a:path h="4039434" w="14995431">
                <a:moveTo>
                  <a:pt x="0" y="0"/>
                </a:moveTo>
                <a:lnTo>
                  <a:pt x="14995432" y="0"/>
                </a:lnTo>
                <a:lnTo>
                  <a:pt x="14995432" y="4039434"/>
                </a:lnTo>
                <a:lnTo>
                  <a:pt x="0" y="40394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47329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70206" y="875414"/>
            <a:ext cx="15004538" cy="96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ECA Tools Workflow :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22" r="0" b="-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450638"/>
            <a:ext cx="16726534" cy="1254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5"/>
              </a:lnSpc>
            </a:pP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The Plot Curve and Plot Points module provides a </a:t>
            </a:r>
            <a:r>
              <a:rPr lang="en-US" b="true" sz="236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graphical representation 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of el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li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curv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 and 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ir corresponding points over finite fields. I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 helps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users </a:t>
            </a:r>
            <a:r>
              <a:rPr lang="en-US" b="true" sz="236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visually understand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the </a:t>
            </a:r>
            <a:r>
              <a:rPr lang="en-US" b="true" sz="236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geometric structure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of elliptic curves and </a:t>
            </a:r>
            <a:r>
              <a:rPr lang="en-US" b="true" sz="236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verify computational results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obtained from SageMath.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566135"/>
            <a:ext cx="15004538" cy="1878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Curve and Point Visualization Module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767646" y="4100212"/>
            <a:ext cx="10047531" cy="3831355"/>
            <a:chOff x="0" y="0"/>
            <a:chExt cx="2646263" cy="100908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646263" cy="1009081"/>
            </a:xfrm>
            <a:custGeom>
              <a:avLst/>
              <a:gdLst/>
              <a:ahLst/>
              <a:cxnLst/>
              <a:rect r="r" b="b" t="t" l="l"/>
              <a:pathLst>
                <a:path h="1009081" w="2646263">
                  <a:moveTo>
                    <a:pt x="0" y="0"/>
                  </a:moveTo>
                  <a:lnTo>
                    <a:pt x="2646263" y="0"/>
                  </a:lnTo>
                  <a:lnTo>
                    <a:pt x="2646263" y="1009081"/>
                  </a:lnTo>
                  <a:lnTo>
                    <a:pt x="0" y="1009081"/>
                  </a:lnTo>
                  <a:close/>
                </a:path>
              </a:pathLst>
            </a:custGeom>
            <a:solidFill>
              <a:srgbClr val="ECE5D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646263" cy="1056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948578" y="4155111"/>
            <a:ext cx="9685667" cy="3673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9"/>
              </a:lnSpc>
            </a:pPr>
            <a:r>
              <a:rPr lang="en-US" sz="2357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Workflow :</a:t>
            </a:r>
          </a:p>
          <a:p>
            <a:pPr algn="l" marL="508878" indent="-254439" lvl="1">
              <a:lnSpc>
                <a:spcPts val="3299"/>
              </a:lnSpc>
              <a:buAutoNum type="arabicPeriod" startAt="1"/>
            </a:pPr>
            <a:r>
              <a:rPr lang="en-US" sz="235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User enables</a:t>
            </a:r>
            <a:r>
              <a:rPr lang="en-US" b="true" sz="2357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Plot Curve</a:t>
            </a:r>
            <a:r>
              <a:rPr lang="en-US" sz="235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or/and </a:t>
            </a:r>
            <a:r>
              <a:rPr lang="en-US" b="true" sz="2357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Plot Points</a:t>
            </a:r>
            <a:r>
              <a:rPr lang="en-US" sz="235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option.</a:t>
            </a:r>
          </a:p>
          <a:p>
            <a:pPr algn="l" marL="508878" indent="-254439" lvl="1">
              <a:lnSpc>
                <a:spcPts val="3299"/>
              </a:lnSpc>
              <a:buAutoNum type="arabicPeriod" startAt="1"/>
            </a:pPr>
            <a:r>
              <a:rPr lang="en-US" sz="235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Flask application passes parameters to SageMath for Plot points with E.points() .</a:t>
            </a:r>
          </a:p>
          <a:p>
            <a:pPr algn="l" marL="508878" indent="-254439" lvl="1">
              <a:lnSpc>
                <a:spcPts val="3299"/>
              </a:lnSpc>
              <a:buAutoNum type="arabicPeriod" startAt="1"/>
            </a:pPr>
            <a:r>
              <a:rPr lang="en-US" sz="235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Fl</a:t>
            </a:r>
            <a:r>
              <a:rPr lang="en-US" sz="235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ask receiv</a:t>
            </a:r>
            <a:r>
              <a:rPr lang="en-US" sz="235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es the point list.</a:t>
            </a:r>
          </a:p>
          <a:p>
            <a:pPr algn="l" marL="508878" indent="-254439" lvl="1">
              <a:lnSpc>
                <a:spcPts val="3299"/>
              </a:lnSpc>
              <a:buAutoNum type="arabicPeriod" startAt="1"/>
            </a:pPr>
            <a:r>
              <a:rPr lang="en-US" sz="235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Python plotting library (Matplotlib) generates the scatter plot.</a:t>
            </a:r>
          </a:p>
          <a:p>
            <a:pPr algn="l" marL="508878" indent="-254439" lvl="1">
              <a:lnSpc>
                <a:spcPts val="3299"/>
              </a:lnSpc>
              <a:buAutoNum type="arabicPeriod" startAt="1"/>
            </a:pPr>
            <a:r>
              <a:rPr lang="en-US" sz="235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</a:t>
            </a:r>
            <a:r>
              <a:rPr lang="en-US" sz="235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lot images are converted to Base64 format.</a:t>
            </a:r>
          </a:p>
          <a:p>
            <a:pPr algn="l" marL="508878" indent="-254439" lvl="1">
              <a:lnSpc>
                <a:spcPts val="3299"/>
              </a:lnSpc>
              <a:buAutoNum type="arabicPeriod" startAt="1"/>
            </a:pPr>
            <a:r>
              <a:rPr lang="en-US" sz="235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Im</a:t>
            </a:r>
            <a:r>
              <a:rPr lang="en-US" sz="235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ages are embedded directly</a:t>
            </a:r>
            <a:r>
              <a:rPr lang="en-US" sz="235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into the web response.</a:t>
            </a:r>
          </a:p>
          <a:p>
            <a:pPr algn="l">
              <a:lnSpc>
                <a:spcPts val="3299"/>
              </a:lnSpc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11308920" y="4100212"/>
            <a:ext cx="6446314" cy="4145595"/>
            <a:chOff x="0" y="0"/>
            <a:chExt cx="2681995" cy="172477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681995" cy="1724779"/>
            </a:xfrm>
            <a:custGeom>
              <a:avLst/>
              <a:gdLst/>
              <a:ahLst/>
              <a:cxnLst/>
              <a:rect r="r" b="b" t="t" l="l"/>
              <a:pathLst>
                <a:path h="1724779" w="2681995">
                  <a:moveTo>
                    <a:pt x="0" y="0"/>
                  </a:moveTo>
                  <a:lnTo>
                    <a:pt x="2681995" y="0"/>
                  </a:lnTo>
                  <a:lnTo>
                    <a:pt x="2681995" y="1724779"/>
                  </a:lnTo>
                  <a:lnTo>
                    <a:pt x="0" y="1724779"/>
                  </a:lnTo>
                  <a:close/>
                </a:path>
              </a:pathLst>
            </a:custGeom>
            <a:solidFill>
              <a:srgbClr val="ECE5DB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2681995" cy="17724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1308920" y="4120839"/>
            <a:ext cx="6561312" cy="4389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Key Features:</a:t>
            </a:r>
          </a:p>
          <a:p>
            <a:pPr algn="l" marL="496571" indent="-248285" lvl="1">
              <a:lnSpc>
                <a:spcPts val="3220"/>
              </a:lnSpc>
              <a:buAutoNum type="arabicPeriod" startAt="1"/>
            </a:pPr>
            <a:r>
              <a:rPr lang="en-US" b="true" sz="23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Visualizes elliptic cu</a:t>
            </a:r>
            <a:r>
              <a:rPr lang="en-US" b="true" sz="23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rves</a:t>
            </a:r>
            <a:r>
              <a:rPr lang="en-US" sz="2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for</a:t>
            </a:r>
            <a:r>
              <a:rPr lang="en-US" sz="2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degree-one fields </a:t>
            </a:r>
            <a:r>
              <a:rPr lang="en-US" sz="2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GF(p)</a:t>
            </a:r>
            <a:r>
              <a:rPr lang="en-US" sz="2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algn="l" marL="496571" indent="-248285" lvl="1">
              <a:lnSpc>
                <a:spcPts val="3220"/>
              </a:lnSpc>
              <a:buAutoNum type="arabicPeriod" startAt="1"/>
            </a:pPr>
            <a:r>
              <a:rPr lang="en-US" b="true" sz="23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Di</a:t>
            </a:r>
            <a:r>
              <a:rPr lang="en-US" b="true" sz="23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splays all valid points</a:t>
            </a:r>
            <a:r>
              <a:rPr lang="en-US" sz="2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lying on the curve.</a:t>
            </a:r>
          </a:p>
          <a:p>
            <a:pPr algn="l" marL="496571" indent="-248285" lvl="1">
              <a:lnSpc>
                <a:spcPts val="3220"/>
              </a:lnSpc>
              <a:buAutoNum type="arabicPeriod" startAt="1"/>
            </a:pPr>
            <a:r>
              <a:rPr lang="en-US" sz="2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Supports plotting alongside: Curve Order Calculation &amp; </a:t>
            </a:r>
            <a:r>
              <a:rPr lang="en-US" sz="2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Poi</a:t>
            </a:r>
            <a:r>
              <a:rPr lang="en-US" sz="2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nt Enumeration</a:t>
            </a:r>
          </a:p>
          <a:p>
            <a:pPr algn="l" marL="496571" indent="-248285" lvl="1">
              <a:lnSpc>
                <a:spcPts val="3220"/>
              </a:lnSpc>
              <a:buAutoNum type="arabicPeriod" startAt="1"/>
            </a:pPr>
            <a:r>
              <a:rPr lang="en-US" sz="2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Autom</a:t>
            </a:r>
            <a:r>
              <a:rPr lang="en-US" sz="2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atically generated from </a:t>
            </a:r>
            <a:r>
              <a:rPr lang="en-US" sz="2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user-provided curve coefficients.</a:t>
            </a:r>
          </a:p>
          <a:p>
            <a:pPr algn="l" marL="496571" indent="-248285" lvl="1">
              <a:lnSpc>
                <a:spcPts val="3220"/>
              </a:lnSpc>
              <a:buAutoNum type="arabicPeriod" startAt="1"/>
            </a:pPr>
            <a:r>
              <a:rPr lang="en-US" b="true" sz="23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He</a:t>
            </a:r>
            <a:r>
              <a:rPr lang="en-US" b="true" sz="23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lps in educational demonstration</a:t>
            </a:r>
            <a:r>
              <a:rPr lang="en-US" sz="2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and </a:t>
            </a:r>
            <a:r>
              <a:rPr lang="en-US" b="true" sz="23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verification of cu</a:t>
            </a:r>
            <a:r>
              <a:rPr lang="en-US" b="true" sz="23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rve arithmetic</a:t>
            </a:r>
            <a:r>
              <a:rPr lang="en-US" sz="2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algn="l">
              <a:lnSpc>
                <a:spcPts val="3220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181100" y="8118164"/>
            <a:ext cx="6800551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L</a:t>
            </a:r>
            <a:r>
              <a:rPr lang="en-US" sz="21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imit</a:t>
            </a:r>
            <a:r>
              <a:rPr lang="en-US" sz="21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ation: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</a:t>
            </a:r>
            <a:r>
              <a:rPr lang="en-US" sz="2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lotting is current</a:t>
            </a:r>
            <a:r>
              <a:rPr lang="en-US" sz="2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ly re</a:t>
            </a:r>
            <a:r>
              <a:rPr lang="en-US" sz="2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stricted to GF(p) (n =</a:t>
            </a:r>
            <a:r>
              <a:rPr lang="en-US" sz="2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1).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81100" y="8874449"/>
            <a:ext cx="9889854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Ex</a:t>
            </a:r>
            <a:r>
              <a:rPr lang="en-US" sz="2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tens</a:t>
            </a:r>
            <a:r>
              <a:rPr lang="en-US" sz="2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ion fields GF(pⁿ) for </a:t>
            </a:r>
            <a:r>
              <a:rPr lang="en-US" b="true" sz="21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n &gt; 1</a:t>
            </a:r>
            <a:r>
              <a:rPr lang="en-US" sz="2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are </a:t>
            </a:r>
            <a:r>
              <a:rPr lang="en-US" b="true" sz="21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not </a:t>
            </a:r>
            <a:r>
              <a:rPr lang="en-US" sz="2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visualized </a:t>
            </a:r>
            <a:r>
              <a:rPr lang="en-US" sz="2100" u="sng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because their elements do not have a natura</a:t>
            </a:r>
            <a:r>
              <a:rPr lang="en-US" sz="2100" u="sng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 two-dimen</a:t>
            </a:r>
            <a:r>
              <a:rPr lang="en-US" sz="2100" u="sng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sional Euclidean representation</a:t>
            </a:r>
            <a:r>
              <a:rPr lang="en-US" sz="2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22" r="0" b="-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202161" y="6258228"/>
            <a:ext cx="10657617" cy="3818563"/>
          </a:xfrm>
          <a:custGeom>
            <a:avLst/>
            <a:gdLst/>
            <a:ahLst/>
            <a:cxnLst/>
            <a:rect r="r" b="b" t="t" l="l"/>
            <a:pathLst>
              <a:path h="3818563" w="10657617">
                <a:moveTo>
                  <a:pt x="0" y="0"/>
                </a:moveTo>
                <a:lnTo>
                  <a:pt x="10657616" y="0"/>
                </a:lnTo>
                <a:lnTo>
                  <a:pt x="10657616" y="3818563"/>
                </a:lnTo>
                <a:lnTo>
                  <a:pt x="0" y="38185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9138" r="-372" b="-77504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2450638"/>
            <a:ext cx="16726534" cy="3349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5"/>
              </a:lnSpc>
            </a:pPr>
            <a:r>
              <a:rPr lang="en-US" sz="2360" u="sng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Motivation:</a:t>
            </a:r>
          </a:p>
          <a:p>
            <a:pPr algn="l">
              <a:lnSpc>
                <a:spcPts val="3305"/>
              </a:lnSpc>
            </a:pP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Previous departmental projects were d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eployed independently, resulting in </a:t>
            </a:r>
            <a:r>
              <a:rPr lang="en-US" sz="236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duplicated hosting effort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236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separate URLs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, and </a:t>
            </a:r>
            <a:r>
              <a:rPr lang="en-US" sz="236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no common platform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for future projects.</a:t>
            </a:r>
          </a:p>
          <a:p>
            <a:pPr algn="l">
              <a:lnSpc>
                <a:spcPts val="3305"/>
              </a:lnSpc>
            </a:pPr>
          </a:p>
          <a:p>
            <a:pPr algn="l">
              <a:lnSpc>
                <a:spcPts val="3305"/>
              </a:lnSpc>
            </a:pPr>
            <a:r>
              <a:rPr lang="en-US" sz="2360" u="sng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Our Solution: </a:t>
            </a:r>
          </a:p>
          <a:p>
            <a:pPr algn="l">
              <a:lnSpc>
                <a:spcPts val="3305"/>
              </a:lnSpc>
            </a:pP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 </a:t>
            </a:r>
            <a:r>
              <a:rPr lang="en-US" b="true" sz="236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centralized Project Hosting Gateway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that allows mult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iple 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academic tools to b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 hosted under a 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singl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 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web app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licat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ion using </a:t>
            </a:r>
            <a:r>
              <a:rPr lang="en-US" b="true" sz="236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Werkzeug DispatcherMiddleware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algn="l">
              <a:lnSpc>
                <a:spcPts val="3305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220008"/>
            <a:ext cx="15004538" cy="96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Project Hosting Gateway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452025" y="5752996"/>
            <a:ext cx="3326440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Gat</a:t>
            </a:r>
            <a:r>
              <a:rPr lang="en-US" sz="23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ewa</a:t>
            </a:r>
            <a:r>
              <a:rPr lang="en-US" sz="23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y Architecture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22" r="0" b="-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08086" y="2665183"/>
            <a:ext cx="6719364" cy="5344158"/>
            <a:chOff x="0" y="0"/>
            <a:chExt cx="1769709" cy="140751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69709" cy="1407515"/>
            </a:xfrm>
            <a:custGeom>
              <a:avLst/>
              <a:gdLst/>
              <a:ahLst/>
              <a:cxnLst/>
              <a:rect r="r" b="b" t="t" l="l"/>
              <a:pathLst>
                <a:path h="1407515" w="1769709">
                  <a:moveTo>
                    <a:pt x="0" y="0"/>
                  </a:moveTo>
                  <a:lnTo>
                    <a:pt x="1769709" y="0"/>
                  </a:lnTo>
                  <a:lnTo>
                    <a:pt x="1769709" y="1407515"/>
                  </a:lnTo>
                  <a:lnTo>
                    <a:pt x="0" y="1407515"/>
                  </a:lnTo>
                  <a:close/>
                </a:path>
              </a:pathLst>
            </a:custGeom>
            <a:solidFill>
              <a:srgbClr val="ECE5DB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769709" cy="14551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8067138" y="2438726"/>
            <a:ext cx="9772659" cy="6511034"/>
          </a:xfrm>
          <a:custGeom>
            <a:avLst/>
            <a:gdLst/>
            <a:ahLst/>
            <a:cxnLst/>
            <a:rect r="r" b="b" t="t" l="l"/>
            <a:pathLst>
              <a:path h="6511034" w="9772659">
                <a:moveTo>
                  <a:pt x="0" y="0"/>
                </a:moveTo>
                <a:lnTo>
                  <a:pt x="9772659" y="0"/>
                </a:lnTo>
                <a:lnTo>
                  <a:pt x="9772659" y="6511034"/>
                </a:lnTo>
                <a:lnTo>
                  <a:pt x="0" y="65110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1220008"/>
            <a:ext cx="15004538" cy="96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Project Hosting Gateway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34367" y="2785626"/>
            <a:ext cx="6737514" cy="4902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9"/>
              </a:lnSpc>
            </a:pPr>
            <a:r>
              <a:rPr lang="en-US" sz="2357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Key Features</a:t>
            </a:r>
          </a:p>
          <a:p>
            <a:pPr algn="l" marL="508878" indent="-254439" lvl="1">
              <a:lnSpc>
                <a:spcPts val="3299"/>
              </a:lnSpc>
              <a:buFont typeface="Arial"/>
              <a:buChar char="•"/>
            </a:pPr>
            <a:r>
              <a:rPr lang="en-US" b="true" sz="2357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Centralized Access -</a:t>
            </a:r>
            <a:r>
              <a:rPr lang="en-US" sz="235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Single URL for all departmental tools. Consistent user experience.</a:t>
            </a:r>
          </a:p>
          <a:p>
            <a:pPr algn="l" marL="508878" indent="-254439" lvl="1">
              <a:lnSpc>
                <a:spcPts val="3299"/>
              </a:lnSpc>
              <a:buFont typeface="Arial"/>
              <a:buChar char="•"/>
            </a:pPr>
            <a:r>
              <a:rPr lang="en-US" b="true" sz="2357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Independent Development - </a:t>
            </a:r>
            <a:r>
              <a:rPr lang="en-US" sz="235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Each tool remains an independent Flask application.No shared business logic required.</a:t>
            </a:r>
          </a:p>
          <a:p>
            <a:pPr algn="l" marL="508878" indent="-254439" lvl="1">
              <a:lnSpc>
                <a:spcPts val="3299"/>
              </a:lnSpc>
              <a:buFont typeface="Arial"/>
              <a:buChar char="•"/>
            </a:pPr>
            <a:r>
              <a:rPr lang="en-US" b="true" sz="2357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Route-Based Mounting</a:t>
            </a:r>
          </a:p>
          <a:p>
            <a:pPr algn="l" marL="508878" indent="-254439" lvl="1">
              <a:lnSpc>
                <a:spcPts val="3299"/>
              </a:lnSpc>
              <a:buFont typeface="Arial"/>
              <a:buChar char="•"/>
            </a:pPr>
            <a:r>
              <a:rPr lang="en-US" b="true" sz="2357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Scalability -</a:t>
            </a:r>
            <a:r>
              <a:rPr lang="en-US" sz="235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Additional tools can be integrated without modifying existing tool implementations.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38303" y="118266"/>
            <a:ext cx="21441000" cy="10050469"/>
          </a:xfrm>
          <a:custGeom>
            <a:avLst/>
            <a:gdLst/>
            <a:ahLst/>
            <a:cxnLst/>
            <a:rect r="r" b="b" t="t" l="l"/>
            <a:pathLst>
              <a:path h="10050469" w="21441000">
                <a:moveTo>
                  <a:pt x="0" y="0"/>
                </a:moveTo>
                <a:lnTo>
                  <a:pt x="21441000" y="0"/>
                </a:lnTo>
                <a:lnTo>
                  <a:pt x="21441000" y="10050468"/>
                </a:lnTo>
                <a:lnTo>
                  <a:pt x="0" y="100504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735645" y="695508"/>
            <a:ext cx="10098036" cy="790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97"/>
              </a:lnSpc>
              <a:spcBef>
                <a:spcPct val="0"/>
              </a:spcBef>
            </a:pPr>
            <a:r>
              <a:rPr lang="en-US" b="true" sz="599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Project Hosting Homepage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1996738" y="3831908"/>
            <a:ext cx="1722120" cy="709612"/>
            <a:chOff x="0" y="0"/>
            <a:chExt cx="2296160" cy="9461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46037" y="50800"/>
              <a:ext cx="2199843" cy="849402"/>
            </a:xfrm>
            <a:custGeom>
              <a:avLst/>
              <a:gdLst/>
              <a:ahLst/>
              <a:cxnLst/>
              <a:rect r="r" b="b" t="t" l="l"/>
              <a:pathLst>
                <a:path h="849402" w="2199843">
                  <a:moveTo>
                    <a:pt x="78423" y="685800"/>
                  </a:moveTo>
                  <a:cubicBezTo>
                    <a:pt x="491173" y="673100"/>
                    <a:pt x="812483" y="632460"/>
                    <a:pt x="995363" y="604520"/>
                  </a:cubicBezTo>
                  <a:cubicBezTo>
                    <a:pt x="1122363" y="585470"/>
                    <a:pt x="1240473" y="562610"/>
                    <a:pt x="1315403" y="543560"/>
                  </a:cubicBezTo>
                  <a:cubicBezTo>
                    <a:pt x="1357313" y="532130"/>
                    <a:pt x="1382713" y="523240"/>
                    <a:pt x="1411923" y="511810"/>
                  </a:cubicBezTo>
                  <a:cubicBezTo>
                    <a:pt x="1437323" y="500380"/>
                    <a:pt x="1458913" y="492760"/>
                    <a:pt x="1480503" y="474980"/>
                  </a:cubicBezTo>
                  <a:cubicBezTo>
                    <a:pt x="1505903" y="454660"/>
                    <a:pt x="1522413" y="416560"/>
                    <a:pt x="1550353" y="389890"/>
                  </a:cubicBezTo>
                  <a:cubicBezTo>
                    <a:pt x="1582103" y="359410"/>
                    <a:pt x="1621473" y="330200"/>
                    <a:pt x="1665923" y="300990"/>
                  </a:cubicBezTo>
                  <a:cubicBezTo>
                    <a:pt x="1719263" y="265430"/>
                    <a:pt x="1795463" y="234950"/>
                    <a:pt x="1856423" y="195580"/>
                  </a:cubicBezTo>
                  <a:cubicBezTo>
                    <a:pt x="1914843" y="158750"/>
                    <a:pt x="1983423" y="110490"/>
                    <a:pt x="2022793" y="73660"/>
                  </a:cubicBezTo>
                  <a:cubicBezTo>
                    <a:pt x="2048193" y="50800"/>
                    <a:pt x="2055813" y="19050"/>
                    <a:pt x="2078673" y="8890"/>
                  </a:cubicBezTo>
                  <a:cubicBezTo>
                    <a:pt x="2100263" y="0"/>
                    <a:pt x="2137093" y="2540"/>
                    <a:pt x="2157413" y="11430"/>
                  </a:cubicBezTo>
                  <a:cubicBezTo>
                    <a:pt x="2173923" y="19050"/>
                    <a:pt x="2186623" y="35560"/>
                    <a:pt x="2192973" y="50800"/>
                  </a:cubicBezTo>
                  <a:cubicBezTo>
                    <a:pt x="2199323" y="66040"/>
                    <a:pt x="2201863" y="87630"/>
                    <a:pt x="2198053" y="104140"/>
                  </a:cubicBezTo>
                  <a:cubicBezTo>
                    <a:pt x="2194243" y="120650"/>
                    <a:pt x="2184083" y="139700"/>
                    <a:pt x="2168843" y="149860"/>
                  </a:cubicBezTo>
                  <a:cubicBezTo>
                    <a:pt x="2151063" y="161290"/>
                    <a:pt x="2114233" y="171450"/>
                    <a:pt x="2091373" y="165100"/>
                  </a:cubicBezTo>
                  <a:cubicBezTo>
                    <a:pt x="2069783" y="157480"/>
                    <a:pt x="2043113" y="132080"/>
                    <a:pt x="2035493" y="109220"/>
                  </a:cubicBezTo>
                  <a:cubicBezTo>
                    <a:pt x="2029143" y="87630"/>
                    <a:pt x="2035493" y="49530"/>
                    <a:pt x="2050733" y="31750"/>
                  </a:cubicBezTo>
                  <a:cubicBezTo>
                    <a:pt x="2064703" y="13970"/>
                    <a:pt x="2100263" y="1270"/>
                    <a:pt x="2123123" y="0"/>
                  </a:cubicBezTo>
                  <a:cubicBezTo>
                    <a:pt x="2140903" y="0"/>
                    <a:pt x="2158683" y="10160"/>
                    <a:pt x="2171383" y="21590"/>
                  </a:cubicBezTo>
                  <a:cubicBezTo>
                    <a:pt x="2184083" y="33020"/>
                    <a:pt x="2195513" y="52070"/>
                    <a:pt x="2198053" y="68580"/>
                  </a:cubicBezTo>
                  <a:cubicBezTo>
                    <a:pt x="2201863" y="85090"/>
                    <a:pt x="2199323" y="104140"/>
                    <a:pt x="2191703" y="121920"/>
                  </a:cubicBezTo>
                  <a:cubicBezTo>
                    <a:pt x="2182813" y="139700"/>
                    <a:pt x="2170113" y="152400"/>
                    <a:pt x="2148523" y="172720"/>
                  </a:cubicBezTo>
                  <a:cubicBezTo>
                    <a:pt x="2105343" y="214630"/>
                    <a:pt x="2008823" y="293370"/>
                    <a:pt x="1932623" y="344170"/>
                  </a:cubicBezTo>
                  <a:cubicBezTo>
                    <a:pt x="1857693" y="393700"/>
                    <a:pt x="1743393" y="433070"/>
                    <a:pt x="1696403" y="473710"/>
                  </a:cubicBezTo>
                  <a:cubicBezTo>
                    <a:pt x="1671003" y="495300"/>
                    <a:pt x="1668463" y="516890"/>
                    <a:pt x="1649413" y="538480"/>
                  </a:cubicBezTo>
                  <a:cubicBezTo>
                    <a:pt x="1626553" y="562610"/>
                    <a:pt x="1599883" y="589280"/>
                    <a:pt x="1569403" y="609600"/>
                  </a:cubicBezTo>
                  <a:cubicBezTo>
                    <a:pt x="1537653" y="629920"/>
                    <a:pt x="1508443" y="645160"/>
                    <a:pt x="1460183" y="661670"/>
                  </a:cubicBezTo>
                  <a:cubicBezTo>
                    <a:pt x="1373823" y="692150"/>
                    <a:pt x="1232853" y="718820"/>
                    <a:pt x="1085533" y="745490"/>
                  </a:cubicBezTo>
                  <a:cubicBezTo>
                    <a:pt x="875983" y="782320"/>
                    <a:pt x="514033" y="835660"/>
                    <a:pt x="322263" y="844550"/>
                  </a:cubicBezTo>
                  <a:cubicBezTo>
                    <a:pt x="205423" y="849630"/>
                    <a:pt x="89853" y="855980"/>
                    <a:pt x="41593" y="833120"/>
                  </a:cubicBezTo>
                  <a:cubicBezTo>
                    <a:pt x="20003" y="822960"/>
                    <a:pt x="11113" y="807720"/>
                    <a:pt x="4763" y="791210"/>
                  </a:cubicBezTo>
                  <a:cubicBezTo>
                    <a:pt x="-1587" y="775970"/>
                    <a:pt x="-1587" y="751840"/>
                    <a:pt x="4763" y="735330"/>
                  </a:cubicBezTo>
                  <a:cubicBezTo>
                    <a:pt x="11113" y="720090"/>
                    <a:pt x="27623" y="702310"/>
                    <a:pt x="41593" y="694690"/>
                  </a:cubicBezTo>
                  <a:cubicBezTo>
                    <a:pt x="53023" y="687070"/>
                    <a:pt x="78423" y="685800"/>
                    <a:pt x="78423" y="685800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1973878" y="4126230"/>
            <a:ext cx="324803" cy="400050"/>
            <a:chOff x="0" y="0"/>
            <a:chExt cx="433070" cy="533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50028" y="48084"/>
              <a:ext cx="331097" cy="435468"/>
            </a:xfrm>
            <a:custGeom>
              <a:avLst/>
              <a:gdLst/>
              <a:ahLst/>
              <a:cxnLst/>
              <a:rect r="r" b="b" t="t" l="l"/>
              <a:pathLst>
                <a:path h="435468" w="331097">
                  <a:moveTo>
                    <a:pt x="323352" y="111936"/>
                  </a:moveTo>
                  <a:cubicBezTo>
                    <a:pt x="168412" y="351966"/>
                    <a:pt x="168412" y="372286"/>
                    <a:pt x="156982" y="390066"/>
                  </a:cubicBezTo>
                  <a:cubicBezTo>
                    <a:pt x="146822" y="405306"/>
                    <a:pt x="134122" y="420546"/>
                    <a:pt x="118882" y="426896"/>
                  </a:cubicBezTo>
                  <a:cubicBezTo>
                    <a:pt x="103642" y="434516"/>
                    <a:pt x="83322" y="437056"/>
                    <a:pt x="66812" y="434516"/>
                  </a:cubicBezTo>
                  <a:cubicBezTo>
                    <a:pt x="50302" y="430706"/>
                    <a:pt x="31252" y="420546"/>
                    <a:pt x="21092" y="407846"/>
                  </a:cubicBezTo>
                  <a:cubicBezTo>
                    <a:pt x="9662" y="395146"/>
                    <a:pt x="2042" y="376096"/>
                    <a:pt x="772" y="358316"/>
                  </a:cubicBezTo>
                  <a:cubicBezTo>
                    <a:pt x="-498" y="341806"/>
                    <a:pt x="2042" y="321486"/>
                    <a:pt x="13472" y="307516"/>
                  </a:cubicBezTo>
                  <a:cubicBezTo>
                    <a:pt x="26172" y="291006"/>
                    <a:pt x="59192" y="270686"/>
                    <a:pt x="82052" y="269416"/>
                  </a:cubicBezTo>
                  <a:cubicBezTo>
                    <a:pt x="104912" y="269416"/>
                    <a:pt x="137932" y="285926"/>
                    <a:pt x="150632" y="304976"/>
                  </a:cubicBezTo>
                  <a:cubicBezTo>
                    <a:pt x="164602" y="324026"/>
                    <a:pt x="167142" y="360856"/>
                    <a:pt x="160792" y="382446"/>
                  </a:cubicBezTo>
                  <a:cubicBezTo>
                    <a:pt x="155712" y="398956"/>
                    <a:pt x="143012" y="415466"/>
                    <a:pt x="126502" y="423086"/>
                  </a:cubicBezTo>
                  <a:cubicBezTo>
                    <a:pt x="107452" y="433246"/>
                    <a:pt x="69352" y="435786"/>
                    <a:pt x="49032" y="428166"/>
                  </a:cubicBezTo>
                  <a:cubicBezTo>
                    <a:pt x="32522" y="423086"/>
                    <a:pt x="18552" y="407846"/>
                    <a:pt x="10932" y="392606"/>
                  </a:cubicBezTo>
                  <a:cubicBezTo>
                    <a:pt x="2042" y="378636"/>
                    <a:pt x="-1768" y="359586"/>
                    <a:pt x="772" y="340536"/>
                  </a:cubicBezTo>
                  <a:cubicBezTo>
                    <a:pt x="4582" y="315136"/>
                    <a:pt x="24902" y="289736"/>
                    <a:pt x="45222" y="255446"/>
                  </a:cubicBezTo>
                  <a:cubicBezTo>
                    <a:pt x="79512" y="195756"/>
                    <a:pt x="159522" y="61136"/>
                    <a:pt x="193812" y="25576"/>
                  </a:cubicBezTo>
                  <a:cubicBezTo>
                    <a:pt x="205242" y="12876"/>
                    <a:pt x="211592" y="7796"/>
                    <a:pt x="224292" y="3986"/>
                  </a:cubicBezTo>
                  <a:cubicBezTo>
                    <a:pt x="238262" y="-1094"/>
                    <a:pt x="263662" y="-1094"/>
                    <a:pt x="278902" y="2716"/>
                  </a:cubicBezTo>
                  <a:cubicBezTo>
                    <a:pt x="291602" y="6526"/>
                    <a:pt x="301762" y="14146"/>
                    <a:pt x="310652" y="24306"/>
                  </a:cubicBezTo>
                  <a:cubicBezTo>
                    <a:pt x="320812" y="35736"/>
                    <a:pt x="329702" y="59866"/>
                    <a:pt x="330972" y="75106"/>
                  </a:cubicBezTo>
                  <a:cubicBezTo>
                    <a:pt x="332242" y="87806"/>
                    <a:pt x="323352" y="111936"/>
                    <a:pt x="323352" y="111936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2008168" y="4330065"/>
            <a:ext cx="563880" cy="467678"/>
            <a:chOff x="0" y="0"/>
            <a:chExt cx="751840" cy="62357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50800" y="50640"/>
              <a:ext cx="651239" cy="523268"/>
            </a:xfrm>
            <a:custGeom>
              <a:avLst/>
              <a:gdLst/>
              <a:ahLst/>
              <a:cxnLst/>
              <a:rect r="r" b="b" t="t" l="l"/>
              <a:pathLst>
                <a:path h="523268" w="651239">
                  <a:moveTo>
                    <a:pt x="134620" y="23020"/>
                  </a:moveTo>
                  <a:cubicBezTo>
                    <a:pt x="332740" y="191930"/>
                    <a:pt x="596900" y="334170"/>
                    <a:pt x="638810" y="396400"/>
                  </a:cubicBezTo>
                  <a:cubicBezTo>
                    <a:pt x="652780" y="416720"/>
                    <a:pt x="651510" y="430690"/>
                    <a:pt x="650240" y="448470"/>
                  </a:cubicBezTo>
                  <a:cubicBezTo>
                    <a:pt x="648970" y="464980"/>
                    <a:pt x="641350" y="484030"/>
                    <a:pt x="628650" y="496730"/>
                  </a:cubicBezTo>
                  <a:cubicBezTo>
                    <a:pt x="612140" y="510700"/>
                    <a:pt x="575310" y="523400"/>
                    <a:pt x="553720" y="522130"/>
                  </a:cubicBezTo>
                  <a:cubicBezTo>
                    <a:pt x="535940" y="520860"/>
                    <a:pt x="518160" y="509430"/>
                    <a:pt x="506730" y="496730"/>
                  </a:cubicBezTo>
                  <a:cubicBezTo>
                    <a:pt x="495300" y="485300"/>
                    <a:pt x="486410" y="466250"/>
                    <a:pt x="483870" y="448470"/>
                  </a:cubicBezTo>
                  <a:cubicBezTo>
                    <a:pt x="482600" y="431960"/>
                    <a:pt x="486410" y="411640"/>
                    <a:pt x="495300" y="396400"/>
                  </a:cubicBezTo>
                  <a:cubicBezTo>
                    <a:pt x="504190" y="382430"/>
                    <a:pt x="519430" y="367190"/>
                    <a:pt x="535940" y="362110"/>
                  </a:cubicBezTo>
                  <a:cubicBezTo>
                    <a:pt x="556260" y="355760"/>
                    <a:pt x="594360" y="359570"/>
                    <a:pt x="613410" y="369730"/>
                  </a:cubicBezTo>
                  <a:cubicBezTo>
                    <a:pt x="629920" y="378620"/>
                    <a:pt x="641350" y="396400"/>
                    <a:pt x="646430" y="412910"/>
                  </a:cubicBezTo>
                  <a:cubicBezTo>
                    <a:pt x="651510" y="428150"/>
                    <a:pt x="654050" y="449740"/>
                    <a:pt x="646430" y="466250"/>
                  </a:cubicBezTo>
                  <a:cubicBezTo>
                    <a:pt x="637540" y="485300"/>
                    <a:pt x="610870" y="511970"/>
                    <a:pt x="590550" y="519590"/>
                  </a:cubicBezTo>
                  <a:cubicBezTo>
                    <a:pt x="572770" y="525940"/>
                    <a:pt x="553720" y="523400"/>
                    <a:pt x="537210" y="517050"/>
                  </a:cubicBezTo>
                  <a:cubicBezTo>
                    <a:pt x="518160" y="509430"/>
                    <a:pt x="504190" y="484030"/>
                    <a:pt x="482600" y="471330"/>
                  </a:cubicBezTo>
                  <a:cubicBezTo>
                    <a:pt x="457200" y="454820"/>
                    <a:pt x="429260" y="451010"/>
                    <a:pt x="393700" y="430690"/>
                  </a:cubicBezTo>
                  <a:cubicBezTo>
                    <a:pt x="331470" y="393860"/>
                    <a:pt x="220980" y="306230"/>
                    <a:pt x="154940" y="251620"/>
                  </a:cubicBezTo>
                  <a:cubicBezTo>
                    <a:pt x="102870" y="209710"/>
                    <a:pt x="48260" y="167800"/>
                    <a:pt x="22860" y="133510"/>
                  </a:cubicBezTo>
                  <a:cubicBezTo>
                    <a:pt x="10160" y="115730"/>
                    <a:pt x="0" y="101760"/>
                    <a:pt x="0" y="82710"/>
                  </a:cubicBezTo>
                  <a:cubicBezTo>
                    <a:pt x="0" y="62390"/>
                    <a:pt x="15240" y="30640"/>
                    <a:pt x="30480" y="16670"/>
                  </a:cubicBezTo>
                  <a:cubicBezTo>
                    <a:pt x="44450" y="5240"/>
                    <a:pt x="66040" y="-1110"/>
                    <a:pt x="83820" y="160"/>
                  </a:cubicBezTo>
                  <a:cubicBezTo>
                    <a:pt x="101600" y="1430"/>
                    <a:pt x="134620" y="23020"/>
                    <a:pt x="134620" y="23020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3690413" y="3266016"/>
            <a:ext cx="3568887" cy="434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57"/>
              </a:lnSpc>
              <a:spcBef>
                <a:spcPct val="0"/>
              </a:spcBef>
            </a:pPr>
            <a:r>
              <a:rPr lang="en-US" sz="325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ECA Tool mounted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22" r="0" b="-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837622" y="3606561"/>
            <a:ext cx="10875591" cy="3098839"/>
            <a:chOff x="0" y="0"/>
            <a:chExt cx="2864353" cy="81615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64353" cy="816155"/>
            </a:xfrm>
            <a:custGeom>
              <a:avLst/>
              <a:gdLst/>
              <a:ahLst/>
              <a:cxnLst/>
              <a:rect r="r" b="b" t="t" l="l"/>
              <a:pathLst>
                <a:path h="816155" w="2864353">
                  <a:moveTo>
                    <a:pt x="0" y="0"/>
                  </a:moveTo>
                  <a:lnTo>
                    <a:pt x="2864353" y="0"/>
                  </a:lnTo>
                  <a:lnTo>
                    <a:pt x="2864353" y="816155"/>
                  </a:lnTo>
                  <a:lnTo>
                    <a:pt x="0" y="816155"/>
                  </a:lnTo>
                  <a:close/>
                </a:path>
              </a:pathLst>
            </a:custGeom>
            <a:solidFill>
              <a:srgbClr val="ECE5DB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864353" cy="8637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392866" y="144068"/>
            <a:ext cx="7502269" cy="617932"/>
            <a:chOff x="0" y="0"/>
            <a:chExt cx="1975906" cy="16274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75906" cy="162747"/>
            </a:xfrm>
            <a:custGeom>
              <a:avLst/>
              <a:gdLst/>
              <a:ahLst/>
              <a:cxnLst/>
              <a:rect r="r" b="b" t="t" l="l"/>
              <a:pathLst>
                <a:path h="162747" w="1975906">
                  <a:moveTo>
                    <a:pt x="0" y="0"/>
                  </a:moveTo>
                  <a:lnTo>
                    <a:pt x="1975906" y="0"/>
                  </a:lnTo>
                  <a:lnTo>
                    <a:pt x="1975906" y="162747"/>
                  </a:lnTo>
                  <a:lnTo>
                    <a:pt x="0" y="162747"/>
                  </a:lnTo>
                  <a:close/>
                </a:path>
              </a:pathLst>
            </a:custGeom>
            <a:solidFill>
              <a:srgbClr val="ECE5DB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975906" cy="2103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  <a:r>
                <a:rPr lang="en-US" b="true" sz="2100" u="sng">
                  <a:solidFill>
                    <a:srgbClr val="22359F"/>
                  </a:solidFill>
                  <a:latin typeface="Inter Medium"/>
                  <a:ea typeface="Inter Medium"/>
                  <a:cs typeface="Inter Medium"/>
                  <a:sym typeface="Inter Medium"/>
                  <a:hlinkClick r:id="rId3" tooltip="https://be-projects-2026.onrender.com/tools/ECA_Tools/"/>
                </a:rPr>
                <a:t>https://be-projects-2026.onrender.com/tools/ECA_Tools/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4378133" y="7373324"/>
            <a:ext cx="10468680" cy="2743764"/>
          </a:xfrm>
          <a:custGeom>
            <a:avLst/>
            <a:gdLst/>
            <a:ahLst/>
            <a:cxnLst/>
            <a:rect r="r" b="b" t="t" l="l"/>
            <a:pathLst>
              <a:path h="2743764" w="10468680">
                <a:moveTo>
                  <a:pt x="0" y="0"/>
                </a:moveTo>
                <a:lnTo>
                  <a:pt x="10468680" y="0"/>
                </a:lnTo>
                <a:lnTo>
                  <a:pt x="10468680" y="2743763"/>
                </a:lnTo>
                <a:lnTo>
                  <a:pt x="0" y="27437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54204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2450638"/>
            <a:ext cx="16726534" cy="835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5"/>
              </a:lnSpc>
            </a:pP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Deploy the mounted ECA Tools inProject Hosting Gateway as a 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ubl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icl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y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acc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es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sibl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 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web app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licat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ion whil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main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ta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ining a reproduc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le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x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ecut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ion environment for Sag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Math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computations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1019983"/>
            <a:ext cx="15004538" cy="96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Deployment on Render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018554" y="3661460"/>
            <a:ext cx="10927758" cy="3264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9"/>
              </a:lnSpc>
            </a:pPr>
            <a:r>
              <a:rPr lang="en-US" sz="2357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Workflow :</a:t>
            </a:r>
          </a:p>
          <a:p>
            <a:pPr algn="l" marL="508878" indent="-254439" lvl="1">
              <a:lnSpc>
                <a:spcPts val="3299"/>
              </a:lnSpc>
              <a:buAutoNum type="arabicPeriod" startAt="1"/>
            </a:pPr>
            <a:r>
              <a:rPr lang="en-US" sz="235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ECA</a:t>
            </a:r>
            <a:r>
              <a:rPr lang="en-US" sz="235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Tools</a:t>
            </a:r>
            <a:r>
              <a:rPr lang="en-US" sz="235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35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and </a:t>
            </a:r>
            <a:r>
              <a:rPr lang="en-US" sz="235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</a:t>
            </a:r>
            <a:r>
              <a:rPr lang="en-US" sz="235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</a:t>
            </a:r>
            <a:r>
              <a:rPr lang="en-US" sz="235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</a:t>
            </a:r>
            <a:r>
              <a:rPr lang="en-US" sz="235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jec</a:t>
            </a:r>
            <a:r>
              <a:rPr lang="en-US" sz="235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 </a:t>
            </a:r>
            <a:r>
              <a:rPr lang="en-US" sz="235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</a:t>
            </a:r>
            <a:r>
              <a:rPr lang="en-US" sz="235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os</a:t>
            </a:r>
            <a:r>
              <a:rPr lang="en-US" sz="235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ting repositories maintained in Git.</a:t>
            </a:r>
          </a:p>
          <a:p>
            <a:pPr algn="l" marL="508878" indent="-254439" lvl="1">
              <a:lnSpc>
                <a:spcPts val="3299"/>
              </a:lnSpc>
              <a:buAutoNum type="arabicPeriod" startAt="1"/>
            </a:pPr>
            <a:r>
              <a:rPr lang="en-US" sz="235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Source code pushed to GitHub.</a:t>
            </a:r>
          </a:p>
          <a:p>
            <a:pPr algn="l" marL="508878" indent="-254439" lvl="1">
              <a:lnSpc>
                <a:spcPts val="3299"/>
              </a:lnSpc>
              <a:buAutoNum type="arabicPeriod" startAt="1"/>
            </a:pPr>
            <a:r>
              <a:rPr lang="en-US" sz="235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Render automatically builds the Docker image.</a:t>
            </a:r>
          </a:p>
          <a:p>
            <a:pPr algn="l" marL="508878" indent="-254439" lvl="1">
              <a:lnSpc>
                <a:spcPts val="3299"/>
              </a:lnSpc>
              <a:buAutoNum type="arabicPeriod" startAt="1"/>
            </a:pPr>
            <a:r>
              <a:rPr lang="en-US" sz="235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Render launches the Docker container and assigns a dynamic PORT.</a:t>
            </a:r>
          </a:p>
          <a:p>
            <a:pPr algn="l" marL="508878" indent="-254439" lvl="1">
              <a:lnSpc>
                <a:spcPts val="3299"/>
              </a:lnSpc>
              <a:buAutoNum type="arabicPeriod" startAt="1"/>
            </a:pPr>
            <a:r>
              <a:rPr lang="en-US" sz="235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DispatcherMiddleware routes requests:</a:t>
            </a:r>
          </a:p>
          <a:p>
            <a:pPr algn="l" marL="508878" indent="-254439" lvl="1">
              <a:lnSpc>
                <a:spcPts val="3299"/>
              </a:lnSpc>
              <a:buAutoNum type="arabicPeriod" startAt="1"/>
            </a:pPr>
            <a:r>
              <a:rPr lang="en-US" sz="235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SageMath Execution</a:t>
            </a:r>
          </a:p>
          <a:p>
            <a:pPr algn="l">
              <a:lnSpc>
                <a:spcPts val="3299"/>
              </a:lnSpc>
            </a:pP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22" r="0" b="-222"/>
            </a:stretch>
          </a:blipFill>
        </p:spPr>
      </p:sp>
      <p:graphicFrame>
        <p:nvGraphicFramePr>
          <p:cNvPr name="Object 3" id="3"/>
          <p:cNvGraphicFramePr/>
          <p:nvPr/>
        </p:nvGraphicFramePr>
        <p:xfrm>
          <a:off x="471701" y="2365472"/>
          <a:ext cx="7586157" cy="4274588"/>
        </p:xfrm>
        <a:graphic>
          <a:graphicData uri="http://schemas.openxmlformats.org/presentationml/2006/ole">
            <p:oleObj imgW="9105900" imgH="5791200" r:id="rId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1070206" y="875414"/>
            <a:ext cx="15004538" cy="96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Functional Testing: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22" r="0" b="-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52601" y="6801426"/>
            <a:ext cx="8591399" cy="1713592"/>
            <a:chOff x="0" y="0"/>
            <a:chExt cx="2262755" cy="45131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62755" cy="451316"/>
            </a:xfrm>
            <a:custGeom>
              <a:avLst/>
              <a:gdLst/>
              <a:ahLst/>
              <a:cxnLst/>
              <a:rect r="r" b="b" t="t" l="l"/>
              <a:pathLst>
                <a:path h="451316" w="2262755">
                  <a:moveTo>
                    <a:pt x="0" y="0"/>
                  </a:moveTo>
                  <a:lnTo>
                    <a:pt x="2262755" y="0"/>
                  </a:lnTo>
                  <a:lnTo>
                    <a:pt x="2262755" y="451316"/>
                  </a:lnTo>
                  <a:lnTo>
                    <a:pt x="0" y="451316"/>
                  </a:lnTo>
                  <a:close/>
                </a:path>
              </a:pathLst>
            </a:custGeom>
            <a:solidFill>
              <a:srgbClr val="ECE5DB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262755" cy="4989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659324" y="2384041"/>
            <a:ext cx="17628676" cy="6790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1. Computa</a:t>
            </a:r>
            <a:r>
              <a:rPr lang="en-US" sz="23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tion Latency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Operations suc</a:t>
            </a:r>
            <a:r>
              <a:rPr lang="en-US" sz="2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 as:</a:t>
            </a:r>
          </a:p>
          <a:p>
            <a:pPr algn="l" marL="993141" indent="-331047" lvl="2">
              <a:lnSpc>
                <a:spcPts val="3220"/>
              </a:lnSpc>
              <a:buFont typeface="Arial"/>
              <a:buChar char="⚬"/>
            </a:pPr>
            <a:r>
              <a:rPr lang="en-US" sz="2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Curve Order Calculation (E.order())</a:t>
            </a:r>
          </a:p>
          <a:p>
            <a:pPr algn="l" marL="993141" indent="-331047" lvl="2">
              <a:lnSpc>
                <a:spcPts val="3220"/>
              </a:lnSpc>
              <a:buFont typeface="Arial"/>
              <a:buChar char="⚬"/>
            </a:pPr>
            <a:r>
              <a:rPr lang="en-US" sz="2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Generator Point Detection (E.gens())</a:t>
            </a:r>
          </a:p>
          <a:p>
            <a:pPr algn="l" marL="993141" indent="-331047" lvl="2">
              <a:lnSpc>
                <a:spcPts val="3220"/>
              </a:lnSpc>
              <a:buFont typeface="Arial"/>
              <a:buChar char="⚬"/>
            </a:pPr>
            <a:r>
              <a:rPr lang="en-US" sz="2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Full Point Enumeration (E.points())</a:t>
            </a:r>
          </a:p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   </a:t>
            </a:r>
            <a:r>
              <a:rPr lang="en-US" sz="2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become computationally expensive for larg</a:t>
            </a:r>
            <a:r>
              <a:rPr lang="en-US" sz="2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er finite fields and extension fields GF(pⁿ).</a:t>
            </a:r>
          </a:p>
          <a:p>
            <a:pPr algn="l">
              <a:lnSpc>
                <a:spcPts val="3220"/>
              </a:lnSpc>
            </a:pPr>
          </a:p>
          <a:p>
            <a:pPr algn="l">
              <a:lnSpc>
                <a:spcPts val="3220"/>
              </a:lnSpc>
            </a:pPr>
            <a:r>
              <a:rPr lang="en-US" sz="23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Impact</a:t>
            </a:r>
            <a:r>
              <a:rPr lang="en-US" sz="2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 u="sng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Users may experience delays after pressing Calculate.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 u="sng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Long-running SageMath processes can temporarily occupy server resources.</a:t>
            </a:r>
          </a:p>
          <a:p>
            <a:pPr algn="l">
              <a:lnSpc>
                <a:spcPts val="3220"/>
              </a:lnSpc>
            </a:pPr>
          </a:p>
          <a:p>
            <a:pPr algn="l">
              <a:lnSpc>
                <a:spcPts val="3220"/>
              </a:lnSpc>
            </a:pPr>
            <a:r>
              <a:rPr lang="en-US" sz="23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Mitigation Implemented: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Managed </a:t>
            </a:r>
            <a:r>
              <a:rPr lang="en-US" b="true" sz="23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subprocess execution</a:t>
            </a:r>
            <a:r>
              <a:rPr lang="en-US" sz="2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b="true" sz="23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120-second timeout protection</a:t>
            </a:r>
            <a:r>
              <a:rPr lang="en-US" sz="2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b="true" sz="23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Request replacement mechanism</a:t>
            </a:r>
            <a:r>
              <a:rPr lang="en-US" sz="2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for duplicate requests.</a:t>
            </a:r>
          </a:p>
          <a:p>
            <a:pPr algn="l">
              <a:lnSpc>
                <a:spcPts val="3220"/>
              </a:lnSpc>
            </a:pPr>
          </a:p>
          <a:p>
            <a:pPr algn="l">
              <a:lnSpc>
                <a:spcPts val="322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493232"/>
            <a:ext cx="15004538" cy="96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Challenges &amp; Issues Faced: 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22" r="0" b="-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65018" y="2431814"/>
            <a:ext cx="17628676" cy="558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2. High Resource Consumption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b="true" sz="23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SageMath requires significantly more RAM and CPU</a:t>
            </a:r>
            <a:r>
              <a:rPr lang="en-US" sz="2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resources than con</a:t>
            </a:r>
            <a:r>
              <a:rPr lang="en-US" sz="2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ventional web applications.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Running a complete CAS inside Docker increases memory footprint.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Resource requirements limited hosting options and influenced deployment choices.</a:t>
            </a:r>
          </a:p>
          <a:p>
            <a:pPr algn="l">
              <a:lnSpc>
                <a:spcPts val="3220"/>
              </a:lnSpc>
            </a:pPr>
            <a:r>
              <a:rPr lang="en-US" sz="23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Impact</a:t>
            </a:r>
            <a:r>
              <a:rPr lang="en-US" sz="2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r>
              <a:rPr lang="en-US" sz="2300" u="sng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Reduced suitability for lightweight free-tier cloud services.</a:t>
            </a:r>
          </a:p>
          <a:p>
            <a:pPr algn="l">
              <a:lnSpc>
                <a:spcPts val="3220"/>
              </a:lnSpc>
            </a:pPr>
          </a:p>
          <a:p>
            <a:pPr algn="l">
              <a:lnSpc>
                <a:spcPts val="3220"/>
              </a:lnSpc>
            </a:pPr>
            <a:r>
              <a:rPr lang="en-US" sz="23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3. High Docker Build Time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SageMath is a large Computer Algebra System (CAS) with numerous mathematical libraries and dependencies.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Docker images containing S</a:t>
            </a:r>
            <a:r>
              <a:rPr lang="en-US" b="true" sz="23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ageMath exceed several gigabytes in size</a:t>
            </a:r>
            <a:r>
              <a:rPr lang="en-US" sz="2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Container build and </a:t>
            </a:r>
            <a:r>
              <a:rPr lang="en-US" b="true" sz="23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deployment times were significantly longer than traditional Flask applications</a:t>
            </a:r>
            <a:r>
              <a:rPr lang="en-US" sz="2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b="true" sz="23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Frequent rebuilds during development slowed the testing cycle.</a:t>
            </a:r>
          </a:p>
          <a:p>
            <a:pPr algn="l">
              <a:lnSpc>
                <a:spcPts val="3220"/>
              </a:lnSpc>
            </a:pPr>
            <a:r>
              <a:rPr lang="en-US" sz="23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Impact</a:t>
            </a:r>
            <a:r>
              <a:rPr lang="en-US" sz="2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2300" u="sng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Longer deployment and update times</a:t>
            </a:r>
            <a:r>
              <a:rPr lang="en-US" sz="2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algn="l">
              <a:lnSpc>
                <a:spcPts val="3220"/>
              </a:lnSpc>
            </a:pPr>
          </a:p>
          <a:p>
            <a:pPr algn="l">
              <a:lnSpc>
                <a:spcPts val="3220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493232"/>
            <a:ext cx="15004538" cy="96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Challenges &amp; Issues Faced: 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22" r="0" b="-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26349" y="6497959"/>
            <a:ext cx="15743754" cy="2045492"/>
            <a:chOff x="0" y="0"/>
            <a:chExt cx="4146503" cy="53873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146503" cy="538730"/>
            </a:xfrm>
            <a:custGeom>
              <a:avLst/>
              <a:gdLst/>
              <a:ahLst/>
              <a:cxnLst/>
              <a:rect r="r" b="b" t="t" l="l"/>
              <a:pathLst>
                <a:path h="538730" w="4146503">
                  <a:moveTo>
                    <a:pt x="0" y="0"/>
                  </a:moveTo>
                  <a:lnTo>
                    <a:pt x="4146503" y="0"/>
                  </a:lnTo>
                  <a:lnTo>
                    <a:pt x="4146503" y="538730"/>
                  </a:lnTo>
                  <a:lnTo>
                    <a:pt x="0" y="538730"/>
                  </a:lnTo>
                  <a:close/>
                </a:path>
              </a:pathLst>
            </a:custGeom>
            <a:solidFill>
              <a:srgbClr val="ECE5DB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146503" cy="5863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2419163"/>
            <a:ext cx="16230600" cy="7540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5"/>
              </a:lnSpc>
            </a:pP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1. </a:t>
            </a:r>
            <a:r>
              <a:rPr lang="en-US" sz="236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User Interface (UI) Enhancements on WebApp</a:t>
            </a:r>
          </a:p>
          <a:p>
            <a:pPr algn="l" marL="509719" indent="-254859" lvl="1">
              <a:lnSpc>
                <a:spcPts val="3305"/>
              </a:lnSpc>
              <a:buFont typeface="Arial"/>
              <a:buChar char="•"/>
            </a:pPr>
            <a:r>
              <a:rPr lang="en-US" b="true" sz="236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Visual Curve Plotting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</a:p>
          <a:p>
            <a:pPr algn="l" marL="509719" indent="-254859" lvl="1">
              <a:lnSpc>
                <a:spcPts val="3305"/>
              </a:lnSpc>
              <a:buAutoNum type="arabicPeriod" startAt="1"/>
            </a:pP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Improve graphical visualization of elliptic curves.</a:t>
            </a:r>
          </a:p>
          <a:p>
            <a:pPr algn="l" marL="509719" indent="-254859" lvl="1">
              <a:lnSpc>
                <a:spcPts val="3305"/>
              </a:lnSpc>
              <a:buAutoNum type="arabicPeriod" startAt="1"/>
            </a:pP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Provide richer interactive plots using: Plotly / Advanced Matplotlib integration</a:t>
            </a:r>
          </a:p>
          <a:p>
            <a:pPr algn="l">
              <a:lnSpc>
                <a:spcPts val="3305"/>
              </a:lnSpc>
            </a:pPr>
          </a:p>
          <a:p>
            <a:pPr algn="l" marL="509719" indent="-254859" lvl="1">
              <a:lnSpc>
                <a:spcPts val="3305"/>
              </a:lnSpc>
              <a:buFont typeface="Arial"/>
              <a:buChar char="•"/>
            </a:pPr>
            <a:r>
              <a:rPr lang="en-US" b="true" sz="236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Real-Time Validation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:  </a:t>
            </a:r>
          </a:p>
          <a:p>
            <a:pPr algn="l" marL="509719" indent="-254859" lvl="1">
              <a:lnSpc>
                <a:spcPts val="3305"/>
              </a:lnSpc>
              <a:buAutoNum type="arabicPeriod" startAt="1"/>
            </a:pP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Validate coefficients while users type.</a:t>
            </a:r>
          </a:p>
          <a:p>
            <a:pPr algn="l" marL="509719" indent="-254859" lvl="1">
              <a:lnSpc>
                <a:spcPts val="3305"/>
              </a:lnSpc>
              <a:buAutoNum type="arabicPeriod" startAt="1"/>
            </a:pP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Automatically detect singular curves. Δ = 0</a:t>
            </a:r>
          </a:p>
          <a:p>
            <a:pPr algn="l" marL="509719" indent="-254859" lvl="1">
              <a:lnSpc>
                <a:spcPts val="3305"/>
              </a:lnSpc>
              <a:buAutoNum type="arabicPeriod" startAt="1"/>
            </a:pP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Display warnings before computation begins.</a:t>
            </a:r>
          </a:p>
          <a:p>
            <a:pPr algn="l">
              <a:lnSpc>
                <a:spcPts val="3305"/>
              </a:lnSpc>
            </a:pPr>
          </a:p>
          <a:p>
            <a:pPr algn="l">
              <a:lnSpc>
                <a:spcPts val="3305"/>
              </a:lnSpc>
            </a:pP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2. </a:t>
            </a:r>
            <a:r>
              <a:rPr lang="en-US" sz="236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</a:t>
            </a:r>
            <a:r>
              <a:rPr lang="en-US" sz="236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erformance Improvements</a:t>
            </a:r>
          </a:p>
          <a:p>
            <a:pPr algn="l" marL="509719" indent="-254859" lvl="1">
              <a:lnSpc>
                <a:spcPts val="3305"/>
              </a:lnSpc>
              <a:buAutoNum type="arabicPeriod" startAt="1"/>
            </a:pPr>
            <a:r>
              <a:rPr lang="en-US" b="true" sz="236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Asynchronous Processing: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Move computationally intensive SageMath operations to background workers.</a:t>
            </a:r>
          </a:p>
          <a:p>
            <a:pPr algn="l" marL="509719" indent="-254859" lvl="1">
              <a:lnSpc>
                <a:spcPts val="3305"/>
              </a:lnSpc>
              <a:buAutoNum type="arabicPeriod" startAt="1"/>
            </a:pP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Possible technologies: Celery/Redis &amp; Background Job Queues</a:t>
            </a:r>
          </a:p>
          <a:p>
            <a:pPr algn="l" marL="509719" indent="-254859" lvl="1">
              <a:lnSpc>
                <a:spcPts val="3305"/>
              </a:lnSpc>
              <a:buAutoNum type="arabicPeriod" startAt="1"/>
            </a:pPr>
            <a:r>
              <a:rPr lang="en-US" b="true" sz="236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Benefit: 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Non-blocking user experience.</a:t>
            </a:r>
          </a:p>
          <a:p>
            <a:pPr algn="l">
              <a:lnSpc>
                <a:spcPts val="3305"/>
              </a:lnSpc>
            </a:pPr>
          </a:p>
          <a:p>
            <a:pPr algn="l">
              <a:lnSpc>
                <a:spcPts val="3305"/>
              </a:lnSpc>
            </a:pP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3. </a:t>
            </a:r>
            <a:r>
              <a:rPr lang="en-US" sz="236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Expansion of ECA (Elliptic Curve Arithmetic) Tools</a:t>
            </a:r>
          </a:p>
          <a:p>
            <a:pPr algn="l" marL="509719" indent="-254859" lvl="1">
              <a:lnSpc>
                <a:spcPts val="3305"/>
              </a:lnSpc>
              <a:buFont typeface="Arial"/>
              <a:buChar char="•"/>
            </a:pP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Discrete Logarithm Solver (Small Scale): Add a module to demonstrate the difficulty of ECDLP by attempting to solve </a:t>
            </a:r>
            <a:r>
              <a:rPr lang="en-US" sz="2360" i="true">
                <a:solidFill>
                  <a:srgbClr val="000000"/>
                </a:solidFill>
                <a:latin typeface="Inter Italics"/>
                <a:ea typeface="Inter Italics"/>
                <a:cs typeface="Inter Italics"/>
                <a:sym typeface="Inter Italics"/>
              </a:rPr>
              <a:t>Q = kP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for small curves, visually showing the computational effort required.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162050"/>
            <a:ext cx="15004538" cy="96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Future Enhancements : 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22" r="0" b="-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392183"/>
            <a:ext cx="16230600" cy="6283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5"/>
              </a:lnSpc>
            </a:pP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[1] V. S. Miller, “Use of Elliptic Curves in Cryptography,” CRYPTO 1985, Lecture Notes in Computer Science, Vol. 218, Springer, pp. 417–426, 1986.</a:t>
            </a:r>
          </a:p>
          <a:p>
            <a:pPr algn="l">
              <a:lnSpc>
                <a:spcPts val="3305"/>
              </a:lnSpc>
            </a:pP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[2] N. Koblitz, “Elliptic Curve Cryptosystems,” Mathematics of Computation, Vol. 48, No. 177, p</a:t>
            </a:r>
            <a:r>
              <a:rPr lang="en-US" sz="2360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p.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 </a:t>
            </a:r>
            <a:r>
              <a:rPr lang="en-US" sz="2360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3–</a:t>
            </a:r>
            <a:r>
              <a:rPr lang="en-US" sz="2360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9, </a:t>
            </a:r>
            <a:r>
              <a:rPr lang="en-US" sz="2360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1987.</a:t>
            </a:r>
          </a:p>
          <a:p>
            <a:pPr algn="l">
              <a:lnSpc>
                <a:spcPts val="3305"/>
              </a:lnSpc>
            </a:pP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[3] J. H. Silverman, The Ar</a:t>
            </a:r>
            <a:r>
              <a:rPr lang="en-US" sz="2360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thm</a:t>
            </a:r>
            <a:r>
              <a:rPr lang="en-US" sz="2360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tic</a:t>
            </a:r>
            <a:r>
              <a:rPr lang="en-US" sz="2360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o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</a:t>
            </a:r>
            <a:r>
              <a:rPr lang="en-US" sz="2360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Elliptic Curve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s,</a:t>
            </a:r>
            <a:r>
              <a:rPr lang="en-US" sz="2360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</a:t>
            </a:r>
            <a:r>
              <a:rPr lang="en-US" sz="2360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ra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duate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Tex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 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 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Ma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the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ma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s, Springer, 1986.</a:t>
            </a:r>
          </a:p>
          <a:p>
            <a:pPr algn="l">
              <a:lnSpc>
                <a:spcPts val="3305"/>
              </a:lnSpc>
            </a:pP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[4] L. C. Washington, 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Elliptic Curves: Number Theory and Cryptography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, 2nd ed., Chapman and Hall/CRC, 2008.</a:t>
            </a:r>
          </a:p>
          <a:p>
            <a:pPr algn="l">
              <a:lnSpc>
                <a:spcPts val="3305"/>
              </a:lnSpc>
            </a:pP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[5] SageMath Developers, SageMath, the Sage Mathematics Software System. [Online]. Available: </a:t>
            </a:r>
            <a:r>
              <a:rPr lang="en-US" sz="2360" u="sng">
                <a:solidFill>
                  <a:srgbClr val="22359F"/>
                </a:solidFill>
                <a:latin typeface="Inter"/>
                <a:ea typeface="Inter"/>
                <a:cs typeface="Inter"/>
                <a:sym typeface="Inter"/>
              </a:rPr>
              <a:t>https://www.sagemath.org</a:t>
            </a:r>
          </a:p>
          <a:p>
            <a:pPr algn="l">
              <a:lnSpc>
                <a:spcPts val="3305"/>
              </a:lnSpc>
            </a:pP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[6] A. J. Menezes, P. C. van Oorschot, and S. A. Vanstone, Handbook of Applied Cryptography, CRC Press, 1996.</a:t>
            </a:r>
          </a:p>
          <a:p>
            <a:pPr algn="l">
              <a:lnSpc>
                <a:spcPts val="3305"/>
              </a:lnSpc>
            </a:pP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[7] Pallets Projects, Flask Documentation. [Online]. Available: </a:t>
            </a:r>
            <a:r>
              <a:rPr lang="en-US" sz="2360" u="sng">
                <a:solidFill>
                  <a:srgbClr val="22359F"/>
                </a:solidFill>
                <a:latin typeface="Inter"/>
                <a:ea typeface="Inter"/>
                <a:cs typeface="Inter"/>
                <a:sym typeface="Inter"/>
              </a:rPr>
              <a:t>https://flask.palletsprojects.com</a:t>
            </a:r>
          </a:p>
          <a:p>
            <a:pPr algn="l">
              <a:lnSpc>
                <a:spcPts val="3305"/>
              </a:lnSpc>
            </a:pP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[8] Pallets Projects, Werkzeug Documentation — DispatcherMiddleware. [Online]. Available: </a:t>
            </a:r>
            <a:r>
              <a:rPr lang="en-US" sz="2360" u="sng">
                <a:solidFill>
                  <a:srgbClr val="22359F"/>
                </a:solidFill>
                <a:latin typeface="Inter"/>
                <a:ea typeface="Inter"/>
                <a:cs typeface="Inter"/>
                <a:sym typeface="Inter"/>
              </a:rPr>
              <a:t>https://werkzeug.palletsprojects.com</a:t>
            </a:r>
          </a:p>
          <a:p>
            <a:pPr algn="l">
              <a:lnSpc>
                <a:spcPts val="3305"/>
              </a:lnSpc>
            </a:pP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[9] Docker Inc., Docker Documentation. [Online]. Available: </a:t>
            </a:r>
            <a:r>
              <a:rPr lang="en-US" sz="2360" u="sng">
                <a:solidFill>
                  <a:srgbClr val="22359F"/>
                </a:solidFill>
                <a:latin typeface="Inter"/>
                <a:ea typeface="Inter"/>
                <a:cs typeface="Inter"/>
                <a:sym typeface="Inter"/>
              </a:rPr>
              <a:t>https://docs.docker.com</a:t>
            </a:r>
          </a:p>
          <a:p>
            <a:pPr algn="l">
              <a:lnSpc>
                <a:spcPts val="3305"/>
              </a:lnSpc>
            </a:pP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[10] Render, Web Service Deployment Documentation. [Online]. Available: </a:t>
            </a:r>
            <a:r>
              <a:rPr lang="en-US" sz="2360" u="sng">
                <a:solidFill>
                  <a:srgbClr val="22359F"/>
                </a:solidFill>
                <a:latin typeface="Inter"/>
                <a:ea typeface="Inter"/>
                <a:cs typeface="Inter"/>
                <a:sym typeface="Inter"/>
              </a:rPr>
              <a:t>https://render.com/docs</a:t>
            </a:r>
          </a:p>
          <a:p>
            <a:pPr algn="l">
              <a:lnSpc>
                <a:spcPts val="3305"/>
              </a:lnSpc>
            </a:pP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[11] C</a:t>
            </a:r>
            <a:r>
              <a:rPr lang="en-US" sz="2360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Bach, “Elli</a:t>
            </a:r>
            <a:r>
              <a:rPr lang="en-US" sz="2360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pt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ic Curve Calculat</a:t>
            </a:r>
            <a:r>
              <a:rPr lang="en-US" sz="2360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r,” [O</a:t>
            </a:r>
            <a:r>
              <a:rPr lang="en-US" sz="2360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line]</a:t>
            </a:r>
            <a:r>
              <a:rPr lang="en-US" sz="2360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Available: </a:t>
            </a:r>
            <a:r>
              <a:rPr lang="en-US" sz="2360" u="sng">
                <a:solidFill>
                  <a:srgbClr val="22359F"/>
                </a:solidFill>
                <a:latin typeface="Inter"/>
                <a:ea typeface="Inter"/>
                <a:cs typeface="Inter"/>
                <a:sym typeface="Inter"/>
              </a:rPr>
              <a:t>http://christelbach.com/ECCalculator.aspx, 2010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algn="l">
              <a:lnSpc>
                <a:spcPts val="3305"/>
              </a:lnSpc>
            </a:pP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[12] Dr. S. Grau, “ECC Visualiser Tool,” [Online]. Available: </a:t>
            </a:r>
            <a:r>
              <a:rPr lang="en-US" sz="2360" u="sng">
                <a:solidFill>
                  <a:srgbClr val="22359F"/>
                </a:solidFill>
                <a:latin typeface="Inter"/>
                <a:ea typeface="Inter"/>
                <a:cs typeface="Inter"/>
                <a:sym typeface="Inter"/>
              </a:rPr>
              <a:t>https://graui.de/code/elliptic2/, 2011–2017</a:t>
            </a:r>
            <a:r>
              <a:rPr lang="en-US" sz="23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162050"/>
            <a:ext cx="15004538" cy="96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REFERENCES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22" r="0" b="-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078495" y="2982913"/>
            <a:ext cx="8131011" cy="3395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99"/>
              </a:lnSpc>
            </a:pPr>
            <a:r>
              <a:rPr lang="en-US" b="true" sz="87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THANK Y</a:t>
            </a:r>
            <a:r>
              <a:rPr lang="en-US" b="true" sz="87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OU FOR YOUR ATTENTION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7861300"/>
            <a:ext cx="6863792" cy="1071120"/>
            <a:chOff x="0" y="0"/>
            <a:chExt cx="9151722" cy="142816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9151722" cy="1428160"/>
              <a:chOff x="0" y="0"/>
              <a:chExt cx="1807748" cy="282106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807748" cy="282106"/>
              </a:xfrm>
              <a:custGeom>
                <a:avLst/>
                <a:gdLst/>
                <a:ahLst/>
                <a:cxnLst/>
                <a:rect r="r" b="b" t="t" l="l"/>
                <a:pathLst>
                  <a:path h="282106" w="1807748">
                    <a:moveTo>
                      <a:pt x="0" y="0"/>
                    </a:moveTo>
                    <a:lnTo>
                      <a:pt x="1807748" y="0"/>
                    </a:lnTo>
                    <a:lnTo>
                      <a:pt x="1807748" y="282106"/>
                    </a:lnTo>
                    <a:lnTo>
                      <a:pt x="0" y="282106"/>
                    </a:lnTo>
                    <a:close/>
                  </a:path>
                </a:pathLst>
              </a:custGeom>
              <a:solidFill>
                <a:srgbClr val="ECE5DB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47625"/>
                <a:ext cx="1807748" cy="32973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666127" y="206715"/>
              <a:ext cx="7819469" cy="9671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4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Deployed</a:t>
              </a:r>
            </a:p>
            <a:p>
              <a:pPr algn="ctr">
                <a:lnSpc>
                  <a:spcPts val="2940"/>
                </a:lnSpc>
              </a:pPr>
              <a:r>
                <a:rPr lang="en-US" b="true" sz="2100" u="sng">
                  <a:solidFill>
                    <a:srgbClr val="22359F"/>
                  </a:solidFill>
                  <a:latin typeface="Inter Medium"/>
                  <a:ea typeface="Inter Medium"/>
                  <a:cs typeface="Inter Medium"/>
                  <a:sym typeface="Inter Medium"/>
                  <a:hlinkClick r:id="rId3" tooltip="https://be-projects-2026.onrender.com"/>
                </a:rPr>
                <a:t>https://be-projects-2026.onrender.com/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712532" y="7675562"/>
            <a:ext cx="5885369" cy="1442595"/>
            <a:chOff x="0" y="0"/>
            <a:chExt cx="7847159" cy="192346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7847159" cy="1923460"/>
              <a:chOff x="0" y="0"/>
              <a:chExt cx="1550056" cy="379943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550056" cy="379943"/>
              </a:xfrm>
              <a:custGeom>
                <a:avLst/>
                <a:gdLst/>
                <a:ahLst/>
                <a:cxnLst/>
                <a:rect r="r" b="b" t="t" l="l"/>
                <a:pathLst>
                  <a:path h="379943" w="1550056">
                    <a:moveTo>
                      <a:pt x="0" y="0"/>
                    </a:moveTo>
                    <a:lnTo>
                      <a:pt x="1550056" y="0"/>
                    </a:lnTo>
                    <a:lnTo>
                      <a:pt x="1550056" y="379943"/>
                    </a:lnTo>
                    <a:lnTo>
                      <a:pt x="0" y="379943"/>
                    </a:lnTo>
                    <a:close/>
                  </a:path>
                </a:pathLst>
              </a:custGeom>
              <a:solidFill>
                <a:srgbClr val="ECE5DB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47625"/>
                <a:ext cx="1550056" cy="42756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571171" y="206715"/>
              <a:ext cx="6704816" cy="14624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40"/>
                </a:lnSpc>
              </a:pPr>
              <a:r>
                <a:rPr lang="en-US" b="true" sz="2100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Github</a:t>
              </a:r>
              <a:r>
                <a:rPr lang="en-US" b="true" sz="2100" u="sng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  <a:hlinkClick r:id="rId4" tooltip="https://github.com/AdityaChowdhury15/ECA_Tools/tree/main/2026"/>
                </a:rPr>
                <a:t> </a:t>
              </a:r>
              <a:r>
                <a:rPr lang="en-US" sz="2100" u="sng">
                  <a:solidFill>
                    <a:srgbClr val="22359F"/>
                  </a:solidFill>
                  <a:latin typeface="Inter"/>
                  <a:ea typeface="Inter"/>
                  <a:cs typeface="Inter"/>
                  <a:sym typeface="Inter"/>
                  <a:hlinkClick r:id="rId5" tooltip="https://github.com/AdityaChowdhury15/ECA_Tools/tree/main/2026"/>
                </a:rPr>
                <a:t>https://github.com/AdityaChowdhury15/ECA_Tools/tree/main/2026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DAG7xi6M6S8</dc:identifier>
  <dcterms:modified xsi:type="dcterms:W3CDTF">2011-08-01T06:04:30Z</dcterms:modified>
  <cp:revision>1</cp:revision>
  <dc:title>Elliptic Curve Cryptography</dc:title>
</cp:coreProperties>
</file>